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5A623"/>
              </a:gs>
              <a:gs pos="100000">
                <a:srgbClr val="E09010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11695" y="-1440000"/>
            <a:ext cx="5040000" cy="5040000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40000" y="4698000"/>
            <a:ext cx="3600000" cy="3600000"/>
          </a:xfrm>
          <a:prstGeom prst="ellipse">
            <a:avLst/>
          </a:prstGeom>
          <a:solidFill>
            <a:srgbClr val="E09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720000"/>
            <a:ext cx="720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ĐỒ ÁN PHÁT TRIỂN ỨNG DỤNG DI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1080000"/>
            <a:ext cx="7200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PETSHOP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520000"/>
            <a:ext cx="1008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Ứng dụng cửa hàng thú cưng &amp; thức ăn cho thú cưng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08000"/>
            <a:ext cx="1008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trên nền tảng Android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3420000"/>
            <a:ext cx="936000" cy="3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E09010"/>
                </a:solidFill>
                <a:latin typeface="Calibri"/>
              </a:rPr>
              <a:t>Java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28000" y="3420000"/>
            <a:ext cx="1080000" cy="3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E09010"/>
                </a:solidFill>
                <a:latin typeface="Calibri"/>
              </a:rPr>
              <a:t>Firebase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000" y="3420000"/>
            <a:ext cx="936000" cy="3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E09010"/>
                </a:solidFill>
                <a:latin typeface="Calibri"/>
              </a:rPr>
              <a:t>VNPay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8000" y="3420000"/>
            <a:ext cx="1007999" cy="3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E09010"/>
                </a:solidFill>
                <a:latin typeface="Calibri"/>
              </a:rPr>
              <a:t>OpenAI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68000" y="3420000"/>
            <a:ext cx="936000" cy="3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E09010"/>
                </a:solidFill>
                <a:latin typeface="Calibri"/>
              </a:rPr>
              <a:t>MVVM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4680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Nhóm thực hiện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932000"/>
            <a:ext cx="1008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Nguyễn Hữu Đức Thọ  •  Đào Trúc Mai  •  Nguyễn Văn Trường  •  …………………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5184000"/>
            <a:ext cx="1008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GVHD: …………………………………  •  Năm học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MỞ ĐẦU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Nội dung trình bày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152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6000" y="1277999"/>
            <a:ext cx="540000" cy="54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9999" y="1296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Tổng quan đề tài &amp; Công nghệ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2000" y="1152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56000" y="1277999"/>
            <a:ext cx="540000" cy="540000"/>
          </a:xfrm>
          <a:prstGeom prst="ellipse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999" y="1296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Phân tích &amp; Thiết kế hệ thống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2088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B4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6000" y="2213999"/>
            <a:ext cx="540000" cy="540000"/>
          </a:xfrm>
          <a:prstGeom prst="ellipse">
            <a:avLst/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9999" y="2232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Module Tài khoản (TV1)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2000" y="2088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56000" y="2213999"/>
            <a:ext cx="540000" cy="540000"/>
          </a:xfrm>
          <a:prstGeom prst="ellipse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9999" y="2232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Module Trang chủ – Sản phẩm (TV2)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024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000" y="3149999"/>
            <a:ext cx="540000" cy="540000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9999" y="3168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Module Giỏ hàng – Thanh toán (TV3)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12000" y="3024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56000" y="3149999"/>
            <a:ext cx="540000" cy="540000"/>
          </a:xfrm>
          <a:prstGeom prst="ellipse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999" y="3168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Module Quản trị &amp; Chatbot (TV4)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960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6000" y="4085999"/>
            <a:ext cx="540000" cy="540000"/>
          </a:xfrm>
          <a:prstGeom prst="ellipse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9999" y="4104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Kiểm thử – Triển khai – Đánh giá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12000" y="3960000"/>
            <a:ext cx="5400000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09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56000" y="4085999"/>
            <a:ext cx="540000" cy="540000"/>
          </a:xfrm>
          <a:prstGeom prst="ellipse">
            <a:avLst/>
          </a:prstGeom>
          <a:solidFill>
            <a:srgbClr val="E09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999" y="4104000"/>
            <a:ext cx="43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Kết luận &amp; Hướng phát triển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33" name="Oval 32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FD580"/>
              </a:gs>
              <a:gs pos="100000">
                <a:srgbClr val="F5A623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80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06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Tổng quan đề tài &amp; Công nghệ sử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08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1.1 Khảo sát hiện trạng  •  1.2 Yêu cầu chức năng  •  1.3 Công nghệ  •  1.4 Công cụ phát triển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1.1 KHẢO SÁT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Vì sao chọn đề tài?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044000"/>
            <a:ext cx="1080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1">
                <a:solidFill>
                  <a:srgbClr val="666666"/>
                </a:solidFill>
                <a:latin typeface="Calibri"/>
              </a:rPr>
              <a:t>“Thị trường thú cưng tăng trưởng nhanh – nhưng giao dịch còn rời rạc”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1512000"/>
            <a:ext cx="2520000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1656000"/>
            <a:ext cx="2520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200" b="1" i="0">
                <a:solidFill>
                  <a:srgbClr val="F5A623"/>
                </a:solidFill>
                <a:latin typeface="Calibri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000" y="2448000"/>
            <a:ext cx="2232000" cy="6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hộ gia đình thành thị nuôi thú cưng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8000" y="1512000"/>
            <a:ext cx="2520000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8000" y="1656000"/>
            <a:ext cx="2520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200" b="1" i="0">
                <a:solidFill>
                  <a:srgbClr val="34C759"/>
                </a:solidFill>
                <a:latin typeface="Calibri"/>
              </a:rPr>
              <a:t>Top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2000" y="2448000"/>
            <a:ext cx="2232000" cy="6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thị trường thú cưng tăng nhanh ĐNÁ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240000"/>
            <a:ext cx="2520000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3384000"/>
            <a:ext cx="2520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200" b="1" i="0">
                <a:solidFill>
                  <a:srgbClr val="FF3B30"/>
                </a:solidFill>
                <a:latin typeface="Calibr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000" y="4176000"/>
            <a:ext cx="2232000" cy="6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giao dịch trên MXH thiếu bảo đảm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88000" y="3240000"/>
            <a:ext cx="2520000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8000" y="3384000"/>
            <a:ext cx="2520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200" b="1" i="0">
                <a:solidFill>
                  <a:srgbClr val="007AFF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2000" y="4176000"/>
            <a:ext cx="2232000" cy="6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app Việt chuyên Pet kèm AI tư vấn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000" y="1512000"/>
            <a:ext cx="5580000" cy="34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60000" y="1512000"/>
            <a:ext cx="90000" cy="342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58000" y="1584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F5A623"/>
                </a:solidFill>
                <a:latin typeface="Calibri"/>
              </a:rPr>
              <a:t>Cần một giải pháp chuyên biệt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8000" y="1872000"/>
            <a:ext cx="5310000" cy="30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Nền tảng tập trung cho lĩnh vực thú cưng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Quản lý từng cá thể pet (AVAILABLE/RESERVED/SOLD)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Tích hợp thanh toán điện tử &amp; AI tư vấn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Hỗ trợ cả Khách hàng và Quản trị viên trong 1 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6" name="Oval 25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1.2 MỤC TIÊU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Mục tiêu &amp; phạm vi đề tài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1152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0000" y="1152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224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Người dùng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1512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Khách hàng + Quản trị viên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32000" y="1152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32000" y="1152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30000" y="1224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007AFF"/>
                </a:solidFill>
                <a:latin typeface="Calibri"/>
              </a:rPr>
              <a:t>Sản phẩm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0000" y="1512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Pet (cá thể) + Food (tồn kho)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0" y="1152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04000" y="1152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2000" y="1224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34C759"/>
                </a:solidFill>
                <a:latin typeface="Calibri"/>
              </a:rPr>
              <a:t>E-commerce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2000" y="1512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Cart → Checkout → COD/VNPay → Giao → Hoàn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0000" y="2520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000" y="2520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000" y="2592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7B42F6"/>
                </a:solidFill>
                <a:latin typeface="Calibri"/>
              </a:rPr>
              <a:t>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000" y="2880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Firebase Auth + Firestore + Storage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32000" y="2520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32000" y="2520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30000" y="2592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F3B30"/>
                </a:solidFill>
                <a:latin typeface="Calibri"/>
              </a:rPr>
              <a:t>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0000" y="2880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Chatbot OpenAI gpt-4o-mini RAG nhẹ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04000" y="2520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04000" y="2520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2000" y="2592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00B8A9"/>
                </a:solidFill>
                <a:latin typeface="Calibri"/>
              </a:rPr>
              <a:t>Kiến trúc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2000" y="2880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MVVM + Repository, ViewBinding, LiveData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33" name="Oval 32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1.3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Stack đầy đủ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1188000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0000" y="1188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260000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Java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1548000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Ngôn ngữ chính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8000" y="1188000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68000" y="1188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6000" y="1260000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007AFF"/>
                </a:solidFill>
                <a:latin typeface="Calibri"/>
              </a:rPr>
              <a:t>Android SDK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6000" y="1548000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min API 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76000" y="1188000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6000" y="1188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4000" y="1260000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4C759"/>
                </a:solidFill>
                <a:latin typeface="Calibri"/>
              </a:rPr>
              <a:t>Material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4000" y="1548000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UI components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84000" y="1188000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84000" y="1188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82000" y="1260000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7B42F6"/>
                </a:solidFill>
                <a:latin typeface="Calibri"/>
              </a:rPr>
              <a:t>Firebase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2000" y="1548000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Email + Google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000" y="2249999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0000" y="2249999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000" y="2321999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FF3B30"/>
                </a:solidFill>
                <a:latin typeface="Calibri"/>
              </a:rPr>
              <a:t>Firestore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000" y="2609999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NoSQL real-time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68000" y="2249999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168000" y="2249999"/>
            <a:ext cx="90000" cy="936000"/>
          </a:xfrm>
          <a:prstGeom prst="roundRect">
            <a:avLst>
              <a:gd name="adj" fmla="val 50000"/>
            </a:avLst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66000" y="2321999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00B8A9"/>
                </a:solidFill>
                <a:latin typeface="Calibri"/>
              </a:rPr>
              <a:t>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6000" y="2609999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Upload ảnh / video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76000" y="2249999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76000" y="2249999"/>
            <a:ext cx="90000" cy="936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000" y="2321999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007AFF"/>
                </a:solidFill>
                <a:latin typeface="Calibri"/>
              </a:rPr>
              <a:t>VNPay Sandbox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000" y="2609999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HMAC-SHA512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84000" y="2249999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784000" y="2249999"/>
            <a:ext cx="90000" cy="936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82000" y="2321999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4C759"/>
                </a:solidFill>
                <a:latin typeface="Calibri"/>
              </a:rPr>
              <a:t>OpenAI gpt-4o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2000" y="2609999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Chatbot + Vision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0000" y="3311998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60000" y="3311998"/>
            <a:ext cx="90000" cy="936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8000" y="3383998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7B42F6"/>
                </a:solidFill>
                <a:latin typeface="Calibri"/>
              </a:rPr>
              <a:t>OkHttp + Gson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8000" y="3671998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HTTP &amp; JSON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68000" y="3311998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168000" y="3311998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66000" y="3383998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Glide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66000" y="3671998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Tải &amp; cache ảnh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76000" y="3311998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976000" y="3311998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4000" y="3383998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FF3B30"/>
                </a:solidFill>
                <a:latin typeface="Calibri"/>
              </a:rPr>
              <a:t>JavaMail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74000" y="3671998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OTP qua Gmail SMTP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84000" y="3311998"/>
            <a:ext cx="2664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784000" y="3311998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82000" y="3383998"/>
            <a:ext cx="2394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FF6B9E"/>
                </a:solidFill>
                <a:latin typeface="Calibri"/>
              </a:rPr>
              <a:t>Gradle KTS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2000" y="3671998"/>
            <a:ext cx="2394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Version Catalog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57" name="Oval 56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1.4 CÔNG CỤ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Công cụ phát triển &amp; Quản lý dự 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1152000"/>
            <a:ext cx="540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0000" y="1152000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224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Android Studio Hedgehog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1512000"/>
            <a:ext cx="513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IDE chính, debug, profiling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Layout Editor, Logcat, Emulator API 30/33/34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0000" y="1152000"/>
            <a:ext cx="540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0000" y="1152000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38000" y="1224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007AFF"/>
                </a:solidFill>
                <a:latin typeface="Calibri"/>
              </a:rPr>
              <a:t>Gradle 8 (Kotlin DSL)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8000" y="1512000"/>
            <a:ext cx="513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build.gradle.kts với version catalog libs.versions.toml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Inject biến từ local.properties qua BuildConfig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" y="3132000"/>
            <a:ext cx="540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0000" y="3132000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000" y="3204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34C759"/>
                </a:solidFill>
                <a:latin typeface="Calibri"/>
              </a:rPr>
              <a:t>Git +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000" y="3492000"/>
            <a:ext cx="513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Mỗi feature 1 nhánh; Pull Request review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Commit theo prefix: feat: / fix: / docs: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0000" y="3132000"/>
            <a:ext cx="540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0000" y="3132000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8000" y="3204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7B42F6"/>
                </a:solidFill>
                <a:latin typeface="Calibri"/>
              </a:rPr>
              <a:t>Figma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8000" y="3492000"/>
            <a:ext cx="513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Wireframe &amp; mockup các màn hình chính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Design system (màu, font, icon) thống nhất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5" name="Oval 24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FD580"/>
              </a:gs>
              <a:gs pos="100000">
                <a:srgbClr val="007AFF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80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CHƯƠNG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06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Phân tích &amp; Thiết kế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08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Use Case  •  Activity Diagram  •  Firestore  •  Kiến trúc  •  UI/UX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2.1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Sơ đồ Use Case tổng quát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 / 36</a:t>
            </a:r>
          </a:p>
        </p:txBody>
      </p:sp>
      <p:pic>
        <p:nvPicPr>
          <p:cNvPr id="8" name="Picture 7" descr="diagram_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1188307"/>
            <a:ext cx="11340000" cy="26273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4140000"/>
            <a:ext cx="5400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4140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21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Tác nhân Khách hàng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500000"/>
            <a:ext cx="513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12 use case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Đặt hàng + Thanh toán + Hoàn trả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Chat AI 24/7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0000" y="4140000"/>
            <a:ext cx="5400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0000" y="4140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8000" y="421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007AFF"/>
                </a:solidFill>
                <a:latin typeface="Calibri"/>
              </a:rPr>
              <a:t>Tác nhân Quản trị viên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4500000"/>
            <a:ext cx="513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9 use case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CRUD Pet/Food/Voucher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Dashboard real-time + Duyệt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2.5 KIẾN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Kiến trúc tổng thể MVVM + Repository + Firebase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 / 36</a:t>
            </a:r>
          </a:p>
        </p:txBody>
      </p:sp>
      <p:pic>
        <p:nvPicPr>
          <p:cNvPr id="8" name="Picture 7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76" y="1007999"/>
            <a:ext cx="9946046" cy="27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3960000"/>
            <a:ext cx="27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032000"/>
            <a:ext cx="24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320000"/>
            <a:ext cx="24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Activity / Fragment / Adapter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5999" y="3960000"/>
            <a:ext cx="27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95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999" y="4032000"/>
            <a:ext cx="24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007AFF"/>
                </a:solidFill>
                <a:latin typeface="Calibri"/>
              </a:rPr>
              <a:t>ViewModel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3999" y="4320000"/>
            <a:ext cx="24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LiveData – tách logic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39999" y="3960000"/>
            <a:ext cx="27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39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7999" y="4032000"/>
            <a:ext cx="24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Repository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7999" y="4320000"/>
            <a:ext cx="24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I/O Firestore + REST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83999" y="3960000"/>
            <a:ext cx="27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83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81999" y="4032000"/>
            <a:ext cx="24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7B42F6"/>
                </a:solidFill>
                <a:latin typeface="Calibri"/>
              </a:rPr>
              <a:t>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1999" y="4320000"/>
            <a:ext cx="24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Firebase + VNPay + OpenAI + SMTP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6" name="Oval 25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2.5.3 ĐÓNG GÓI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Tổ chức package mã nguồn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 / 36</a:t>
            </a:r>
          </a:p>
        </p:txBody>
      </p:sp>
      <p:pic>
        <p:nvPicPr>
          <p:cNvPr id="8" name="Picture 7" descr="diagram_package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076" y="1007999"/>
            <a:ext cx="867846" cy="41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60000" y="1080000"/>
            <a:ext cx="3780000" cy="19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60000" y="1080000"/>
            <a:ext cx="90000" cy="198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8000" y="1152000"/>
            <a:ext cx="35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Quy ước đặt tên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8000" y="1440000"/>
            <a:ext cx="351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Activity / Fragment / Adapter / ViewModel / Repository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Layout: activity_/fragment_/item_/dialog_*.xml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Resource id: tvName, etEmail, btnLogin,…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Hằng số: HOA_GẠCH_DƯỚI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60000" y="3131999"/>
            <a:ext cx="378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60000" y="3131999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8000" y="3203999"/>
            <a:ext cx="35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Số liệu mã nguồn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8000" y="3491999"/>
            <a:ext cx="351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30+ Activity  •  6 Fragment  •  19 Adapter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14 ViewModel  •  13 Repository  •  17 Entity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62 layout XML  •  ~20 000 LOC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2.4 CSDL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Mô hình dữ liệu Firestore (ERD logic)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 / 36</a:t>
            </a:r>
          </a:p>
        </p:txBody>
      </p:sp>
      <p:pic>
        <p:nvPicPr>
          <p:cNvPr id="8" name="Picture 7" descr="diagram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600" y="1007999"/>
            <a:ext cx="8130798" cy="27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3960000"/>
            <a:ext cx="558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032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7B42F6"/>
                </a:solidFill>
                <a:latin typeface="Calibri"/>
              </a:rPr>
              <a:t>15 collection chính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320000"/>
            <a:ext cx="531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users, addresses, notifications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pets, foods, categories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orders, return_requests, vouchers, promotions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chat_sessions, chat_messages, banners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2000" y="3960000"/>
            <a:ext cx="558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12000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000" y="4032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34C759"/>
                </a:solidFill>
                <a:latin typeface="Calibri"/>
              </a:rPr>
              <a:t>Điểm thiết kế nổi bật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000" y="4320000"/>
            <a:ext cx="531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Real-time SnapshotListener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Atomic Firestore Transaction (đặt hàng, refund)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Sub-collection (voucher_usage, chat_messages)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2.4.2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Sơ đồ collection trên Cloud Firestore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 / 36</a:t>
            </a:r>
          </a:p>
        </p:txBody>
      </p:sp>
      <p:pic>
        <p:nvPicPr>
          <p:cNvPr id="8" name="Picture 7" descr="diagram_firestore-coll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2601277"/>
            <a:ext cx="7200000" cy="9534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60000" y="1080000"/>
            <a:ext cx="378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60000" y="1080000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8000" y="1152000"/>
            <a:ext cx="35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Cấu trúc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8000" y="1440000"/>
            <a:ext cx="351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Top-level: 13 collection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Sub-collection: 3 (sessions, messages, voucher_usage)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Mọi document đều có createdAt/updatedAt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60000" y="2951999"/>
            <a:ext cx="3780000" cy="19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60000" y="2951999"/>
            <a:ext cx="90000" cy="198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8000" y="3023999"/>
            <a:ext cx="35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007AFF"/>
                </a:solidFill>
                <a:latin typeface="Calibri"/>
              </a:rPr>
              <a:t>Ưu điểm Firestore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8000" y="3311999"/>
            <a:ext cx="351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Real-time mặc định (SnapshotListener)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Offline cache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Scale tốt, không cần dựng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2.4.3 BẢO MẬT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Logic Firestore Security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 / 36</a:t>
            </a:r>
          </a:p>
        </p:txBody>
      </p:sp>
      <p:pic>
        <p:nvPicPr>
          <p:cNvPr id="8" name="Picture 7" descr="diagram_security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1686313"/>
            <a:ext cx="7200000" cy="27833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60000" y="1080000"/>
            <a:ext cx="3780000" cy="19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60000" y="1080000"/>
            <a:ext cx="90000" cy="1980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8000" y="1152000"/>
            <a:ext cx="35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F3B30"/>
                </a:solidFill>
                <a:latin typeface="Calibri"/>
              </a:rPr>
              <a:t>Nguyên tắc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8000" y="1440000"/>
            <a:ext cx="351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Mặc định DENY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isOwner(uid) hoặc isAdmin()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Customer chỉ READ catalog, WRITE cua minh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Admin toàn quyền (sau khi xác thực role)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60000" y="3131999"/>
            <a:ext cx="378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60000" y="3131999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8000" y="3203999"/>
            <a:ext cx="35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Lợi ích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8000" y="3491999"/>
            <a:ext cx="351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Bảo vệ dữ liệu khi client truy cập trực tiếp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Không cần backend trung gian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Dễ test bằng Firebase Emulator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2.5.2 LUỒNG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Sequence dữ liệu giữa các tầng MVVM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 / 36</a:t>
            </a:r>
          </a:p>
        </p:txBody>
      </p:sp>
      <p:pic>
        <p:nvPicPr>
          <p:cNvPr id="8" name="Picture 7" descr="diagram_mvvm-data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25" y="1007999"/>
            <a:ext cx="6121947" cy="27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3960000"/>
            <a:ext cx="36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032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320000"/>
            <a:ext cx="33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Observe LiveData → cập nhật UI tự động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Không chứa business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31999" y="3960000"/>
            <a:ext cx="36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31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9999" y="4032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007AFF"/>
                </a:solidFill>
                <a:latin typeface="Calibri"/>
              </a:rPr>
              <a:t>ViewModel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9999" y="4320000"/>
            <a:ext cx="33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Giữ trạng thái màn hình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Sống theo lifecycle Activity/Fragment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2000" y="3960000"/>
            <a:ext cx="36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12000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0000" y="4032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Repository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000" y="4320000"/>
            <a:ext cx="33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I/O với Firestore + REST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Trả callback (data hoặc error)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2" name="Oval 21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2.3.2 TRẠNG THÁI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State Diagram – Đơn hàng (11 trạng thái)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 / 36</a:t>
            </a:r>
          </a:p>
        </p:txBody>
      </p:sp>
      <p:pic>
        <p:nvPicPr>
          <p:cNvPr id="8" name="Picture 7" descr="diagram_order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516" y="972000"/>
            <a:ext cx="2200966" cy="41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80000" y="1080000"/>
            <a:ext cx="5760000" cy="21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80000" y="1080000"/>
            <a:ext cx="90000" cy="216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8000" y="1152000"/>
            <a:ext cx="54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7B42F6"/>
                </a:solidFill>
                <a:latin typeface="Calibri"/>
              </a:rPr>
              <a:t>11 trạng thái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78000" y="1440000"/>
            <a:ext cx="5490000" cy="17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WAITING_PAYMENT  •  PENDING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CONFIRMED  •  PREPARING  •  SHIPPING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DELIVERED  •  COMPLETED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CANCELLED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RETURN_REQUESTED  •  RETURN_APPROVED  •  REFUNDED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80000" y="3311999"/>
            <a:ext cx="5760000" cy="172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80000" y="3311999"/>
            <a:ext cx="90000" cy="1728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8000" y="3383999"/>
            <a:ext cx="54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34C759"/>
                </a:solidFill>
                <a:latin typeface="Calibri"/>
              </a:rPr>
              <a:t>Bảo toàn dữ liệu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8000" y="3671999"/>
            <a:ext cx="5490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Mọi chuyển trạng thái đều dùng Firestore Transaction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Tự hoàn stock &amp; lượt voucher khi CANCELLED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Cập nhật totalOrders/totalSpent best-effort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FD580"/>
              </a:gs>
              <a:gs pos="100000">
                <a:srgbClr val="7B42F6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44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52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Module Tài khoản &amp; Hồ sơ người dùng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0" y="3420000"/>
            <a:ext cx="7200000" cy="503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800" b="1">
                <a:solidFill>
                  <a:srgbClr val="7B42F6"/>
                </a:solidFill>
                <a:latin typeface="Calibri"/>
              </a:rPr>
              <a:t>TV1 – Nguyễn Hữu Đức Thọ (Trưởng nhóm)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14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3.1 Phân tích  •  3.2-3.3 Model &amp; Auth  •  3.5-3.7 Login (Email/Google/Facebook)  •  3.8-3.10 Profile, Address, Notification, Session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3.5-3.7 ĐĂNG NHẬP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Luồng Đăng ký – Đăng nhập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 / 36</a:t>
            </a:r>
          </a:p>
        </p:txBody>
      </p:sp>
      <p:pic>
        <p:nvPicPr>
          <p:cNvPr id="8" name="Picture 7" descr="diagram_auth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226" y="972000"/>
            <a:ext cx="4451548" cy="41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40000" y="1080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Email + Password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40000" y="1548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Google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0000" y="2015999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OTP qua Gmail SMTP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40000" y="2484000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Facebook Login (mở rộng)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40000" y="2951999"/>
            <a:ext cx="3600000" cy="360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Quên mật khẩu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40000" y="3420000"/>
            <a:ext cx="3600000" cy="16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40000" y="3420000"/>
            <a:ext cx="90000" cy="162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8000" y="3492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7B42F6"/>
                </a:solidFill>
                <a:latin typeface="Calibri"/>
              </a:rPr>
              <a:t>Bảo mật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8000" y="3780000"/>
            <a:ext cx="3330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Firebase Auth quản lý phiên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OTP 6 số ngẫu nhiên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parseAuthError → tiếng Việt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Không lưu mật khẩu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9" name="Oval 18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3.4 ĐIỀU HƯỚNG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Hành trình người dùng (Customer Journey)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 / 36</a:t>
            </a:r>
          </a:p>
        </p:txBody>
      </p:sp>
      <p:pic>
        <p:nvPicPr>
          <p:cNvPr id="8" name="Picture 7" descr="diagram_custome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847767"/>
            <a:ext cx="11340000" cy="138046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4140000"/>
            <a:ext cx="5400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4140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21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5 đường vào ứng dụng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500000"/>
            <a:ext cx="513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Splash → Home Guest / Home Customer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Login Email / Login Google / Register OTP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Sau login: Home → Cart → Checkout → Order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0000" y="4140000"/>
            <a:ext cx="5400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0000" y="4140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8000" y="421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Chức năng phụ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4500000"/>
            <a:ext cx="513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Notification real-time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Chat AI 24/7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Profile + Address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FD580"/>
              </a:gs>
              <a:gs pos="100000">
                <a:srgbClr val="00B8A9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44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52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Module Danh mục sản phẩm &amp; Trang chủ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0" y="3420000"/>
            <a:ext cx="7200000" cy="503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800" b="1">
                <a:solidFill>
                  <a:srgbClr val="00B8A9"/>
                </a:solidFill>
                <a:latin typeface="Calibri"/>
              </a:rPr>
              <a:t>TV2 – Đào Trúc Mai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14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4.1 Phân tích KH  •  4.2 Model Pet/Food  •  4.4 HomeFragment  •  4.6-4.7 Pet/Food Detail  •  4.8 Glide  •  4.9 Search/Filter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4.4 - 4.7 GIAO DIỆN KHÁCH HÀNG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Các màn hình Module Danh mục &amp; Trang chủ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1152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0000" y="1152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224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HomeFragment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1512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Banner • Lời chào theo giờ • Search • Danh mục • Sản phẩm nổi bật • Badge Cart/Notif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32000" y="1152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32000" y="1152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30000" y="1224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007AFF"/>
                </a:solidFill>
                <a:latin typeface="Calibri"/>
              </a:rPr>
              <a:t>CategoryFragment
+ ProductListActivity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0000" y="1512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Lưới 2 cột • Sort/Filter (giá, loài, KM) • Cuộn vô hạn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0" y="1152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04000" y="1152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2000" y="1224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7B42F6"/>
                </a:solidFill>
                <a:latin typeface="Calibri"/>
              </a:rPr>
              <a:t>PetDetailActivity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2000" y="1512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Slider ảnh + video • Giống/Tuổi/Cân nặng • Tiêm phòng • Status RESERVED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0000" y="2520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000" y="2520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000" y="2592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FoodDetailActivity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000" y="2880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Brand • Loại • Trọng lượng • Số lượng theo stock • Tab mô tả/đánh giá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32000" y="2520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32000" y="2520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30000" y="2592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F3B30"/>
                </a:solidFill>
                <a:latin typeface="Calibri"/>
              </a:rPr>
              <a:t>PromotionActivity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0000" y="2880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Voucher hệ thống • Apply 1 chạm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04000" y="2520000"/>
            <a:ext cx="3528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04000" y="2520000"/>
            <a:ext cx="90000" cy="1224000"/>
          </a:xfrm>
          <a:prstGeom prst="roundRect">
            <a:avLst>
              <a:gd name="adj" fmla="val 50000"/>
            </a:avLst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2000" y="2592000"/>
            <a:ext cx="325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00B8A9"/>
                </a:solidFill>
                <a:latin typeface="Calibri"/>
              </a:rPr>
              <a:t>Glide +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2000" y="2880000"/>
            <a:ext cx="3258000" cy="8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Cache đĩa • Placeholder • Transformations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33" name="Oval 32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4.4 HOMEFRAGMENT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Bố cục màn hình Trang chủ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60000" y="1007999"/>
            <a:ext cx="3600000" cy="41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8000" y="1152000"/>
            <a:ext cx="3384000" cy="360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0000" y="1188000"/>
            <a:ext cx="18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Hi, Mai 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0" y="1188000"/>
            <a:ext cx="126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🛒  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04000" y="1584000"/>
            <a:ext cx="3311999" cy="324000"/>
          </a:xfrm>
          <a:prstGeom prst="roundRect">
            <a:avLst>
              <a:gd name="adj" fmla="val 40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6000" y="1620000"/>
            <a:ext cx="324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🔍  Tìm theo giống, kích thước, tên...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04000" y="1980000"/>
            <a:ext cx="3311999" cy="720000"/>
          </a:xfrm>
          <a:prstGeom prst="roundRect">
            <a:avLst>
              <a:gd name="adj" fmla="val 5000"/>
            </a:avLst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4000" y="21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00" b="1" i="0">
                <a:solidFill>
                  <a:srgbClr val="E09010"/>
                </a:solidFill>
                <a:latin typeface="Calibri"/>
              </a:rPr>
              <a:t>Banner ViewPager2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40000" y="2772000"/>
            <a:ext cx="3240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Danh mục</a:t>
            </a:r>
          </a:p>
        </p:txBody>
      </p:sp>
      <p:sp>
        <p:nvSpPr>
          <p:cNvPr id="17" name="Oval 16"/>
          <p:cNvSpPr/>
          <p:nvPr/>
        </p:nvSpPr>
        <p:spPr>
          <a:xfrm>
            <a:off x="4140000" y="2988000"/>
            <a:ext cx="612000" cy="612000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2000" y="2988000"/>
            <a:ext cx="612000" cy="612000"/>
          </a:xfrm>
          <a:prstGeom prst="ellipse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24000" y="2988000"/>
            <a:ext cx="612000" cy="612000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16000" y="2988000"/>
            <a:ext cx="612000" cy="612000"/>
          </a:xfrm>
          <a:prstGeom prst="ellipse">
            <a:avLst/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40000" y="3744000"/>
            <a:ext cx="3240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Thú cưng nổi bật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40000" y="3960000"/>
            <a:ext cx="1440000" cy="720000"/>
          </a:xfrm>
          <a:prstGeom prst="roundRect">
            <a:avLst>
              <a:gd name="adj" fmla="val 6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60000" y="3960000"/>
            <a:ext cx="1440000" cy="720000"/>
          </a:xfrm>
          <a:prstGeom prst="roundRect">
            <a:avLst>
              <a:gd name="adj" fmla="val 6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51999" y="1080000"/>
            <a:ext cx="360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1999" y="1080000"/>
            <a:ext cx="90000" cy="90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999" y="1152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libri"/>
              </a:rPr>
              <a:t>Top Bar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999" y="1440000"/>
            <a:ext cx="333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Lời chào theo giờ (sáng/chiều/tối)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Badge số trên giỏ + thông báo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1999" y="2052000"/>
            <a:ext cx="360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1999" y="2052000"/>
            <a:ext cx="90000" cy="90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9999" y="2124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007AFF"/>
                </a:solidFill>
                <a:latin typeface="Calibri"/>
              </a:rPr>
              <a:t>Search realtime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999" y="2412000"/>
            <a:ext cx="333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TextWatcher → vm.search()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Filter tức thì, không call Firestore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1999" y="3024000"/>
            <a:ext cx="360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1999" y="3024000"/>
            <a:ext cx="90000" cy="90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9999" y="3096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34C759"/>
                </a:solidFill>
                <a:latin typeface="Calibri"/>
              </a:rPr>
              <a:t>Banner ViewPager2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999" y="3384000"/>
            <a:ext cx="333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Auto-scroll 4s/lần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Click → mở Promotion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999" y="3996000"/>
            <a:ext cx="3600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1999" y="3996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999" y="4068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00" b="1" i="0">
                <a:solidFill>
                  <a:srgbClr val="7B42F6"/>
                </a:solidFill>
                <a:latin typeface="Calibri"/>
              </a:rPr>
              <a:t>Sản phẩm nổi bật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9999" y="4356000"/>
            <a:ext cx="333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Pet (cá thể) + Food (tồn kho)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Hiển thị giá KM nếu có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20000" y="1080000"/>
            <a:ext cx="342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20000" y="1080000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18000" y="1152000"/>
            <a:ext cx="315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00B8A9"/>
                </a:solidFill>
                <a:latin typeface="Calibri"/>
              </a:rPr>
              <a:t>Repository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8000" y="1440000"/>
            <a:ext cx="315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FoodRepository / PetRepository / CategoryRepository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Pattern Callback chuẩn cho mọi ViewModel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20000" y="2988000"/>
            <a:ext cx="3420000" cy="19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920000" y="2988000"/>
            <a:ext cx="90000" cy="1980000"/>
          </a:xfrm>
          <a:prstGeom prst="roundRect">
            <a:avLst>
              <a:gd name="adj" fmla="val 50000"/>
            </a:avLst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18000" y="3060000"/>
            <a:ext cx="315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F6B9E"/>
                </a:solidFill>
                <a:latin typeface="Calibri"/>
              </a:rPr>
              <a:t>Hiển thị ảnh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8000" y="3348000"/>
            <a:ext cx="315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Glide + Firebase Storage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Placeholder + Error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Cache đĩa cho danh sách dài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49" name="Oval 48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FD580"/>
              </a:gs>
              <a:gs pos="100000">
                <a:srgbClr val="34C759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44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CHƯƠNG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52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Module Giỏ hàng – Thanh toán – Đơn hàng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0" y="3420000"/>
            <a:ext cx="7200000" cy="503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800" b="1">
                <a:solidFill>
                  <a:srgbClr val="34C759"/>
                </a:solidFill>
                <a:latin typeface="Calibri"/>
              </a:rPr>
              <a:t>TV3 – Nguyễn Văn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14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5.3 Cart  •  5.4 Checkout  •  5.5 VNPay  •  5.6 OrderHistory  •  5.7 ReturnRequest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5.4 CHECKOUT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Activity Diagram – Đặt hàng &amp; Thanh toán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 / 36</a:t>
            </a:r>
          </a:p>
        </p:txBody>
      </p:sp>
      <p:pic>
        <p:nvPicPr>
          <p:cNvPr id="8" name="Picture 7" descr="diagram_checkou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799" y="972000"/>
            <a:ext cx="1934402" cy="41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60000" y="1080000"/>
            <a:ext cx="5580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60000" y="1080000"/>
            <a:ext cx="90000" cy="1152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58000" y="1152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2 phương thức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8000" y="1440000"/>
            <a:ext cx="5310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COD – Pending ngay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VNPay – chờ thanh toán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0" y="2304000"/>
            <a:ext cx="5580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60000" y="2304000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58000" y="2376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34C759"/>
                </a:solidFill>
                <a:latin typeface="Calibri"/>
              </a:rPr>
              <a:t>Phí ship theo vùng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8000" y="2664000"/>
            <a:ext cx="5310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TP. HCM: 30 000đ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Miền Nam: 45 000đ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Miền Trung: 60 000đ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Miền Bắc: 75 000đ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Free ship ≥ 500 000đ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0" y="4176000"/>
            <a:ext cx="5580000" cy="8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60000" y="4176000"/>
            <a:ext cx="90000" cy="864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58000" y="4248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007AFF"/>
                </a:solidFill>
                <a:latin typeface="Calibri"/>
              </a:rPr>
              <a:t>Voucher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8000" y="4536000"/>
            <a:ext cx="531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PERCENT • FIXED • FREESHIP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Validate: hạn / lượt / minOrder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2" name="Oval 21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5.5 VNPAY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Sequence Diagram – Thanh toán VNPay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 / 36</a:t>
            </a:r>
          </a:p>
        </p:txBody>
      </p:sp>
      <p:pic>
        <p:nvPicPr>
          <p:cNvPr id="8" name="Picture 7" descr="diagram_sequence-vnp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838" y="972000"/>
            <a:ext cx="7224324" cy="27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3960000"/>
            <a:ext cx="5580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3960000"/>
            <a:ext cx="90000" cy="1152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032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F3B30"/>
                </a:solidFill>
                <a:latin typeface="Calibri"/>
              </a:rPr>
              <a:t>VNPayHelper.buildPaymentUrl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320000"/>
            <a:ext cx="5310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URL-encode UTF-8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Sort tham số TreeMap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Chữ ký HMAC-SHA512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vnp_ExpireDate = 15 phút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2000" y="3960000"/>
            <a:ext cx="5580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12000" y="3960000"/>
            <a:ext cx="90000" cy="1152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000" y="4032000"/>
            <a:ext cx="53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34C759"/>
                </a:solidFill>
                <a:latin typeface="Calibri"/>
              </a:rPr>
              <a:t>completeVNPayOrder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000" y="4320000"/>
            <a:ext cx="5310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Atomic Firestore Transaction: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→ status = PENDING; paymentStatus = PAID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→ Trừ stock + Pet RESERVED + Notification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5.5 - 5.6 LUỒNG TIỀN &amp; TRẠNG THÁI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Tóm tắt thanh toán &amp; vòng đời đơn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 / 36</a:t>
            </a:r>
          </a:p>
        </p:txBody>
      </p:sp>
      <p:pic>
        <p:nvPicPr>
          <p:cNvPr id="8" name="Picture 7" descr="diagram_payment-data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1448669"/>
            <a:ext cx="11340000" cy="666662"/>
          </a:xfrm>
          <a:prstGeom prst="rect">
            <a:avLst/>
          </a:prstGeom>
        </p:spPr>
      </p:pic>
      <p:pic>
        <p:nvPicPr>
          <p:cNvPr id="9" name="Picture 8" descr="diagram_order-status-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99" y="3307981"/>
            <a:ext cx="11340000" cy="40403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51999" y="4248000"/>
            <a:ext cx="11340000" cy="7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999" y="4248000"/>
            <a:ext cx="90000" cy="72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999" y="4320000"/>
            <a:ext cx="1107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7B42F6"/>
                </a:solidFill>
                <a:latin typeface="Calibri"/>
              </a:rPr>
              <a:t>Bảo toàn dữ liệu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999" y="4608000"/>
            <a:ext cx="1107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Mọi cập nhật trạng thái dùng Firestore Transaction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Hoàn stock + Voucher khi CANCELLED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Refund REFUNDED → trừ doanh thu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5" name="Oval 14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5.7 HOÀN TRẢ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Activity Diagram – Yêu cầu hoàn trả &amp; hoàn tiền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 / 36</a:t>
            </a:r>
          </a:p>
        </p:txBody>
      </p:sp>
      <p:pic>
        <p:nvPicPr>
          <p:cNvPr id="8" name="Picture 7" descr="diagram_return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381" y="972000"/>
            <a:ext cx="1243237" cy="41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40000" y="1080000"/>
            <a:ext cx="6300000" cy="12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40000" y="1080000"/>
            <a:ext cx="90000" cy="126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000" y="1152000"/>
            <a:ext cx="60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COD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8000" y="1440000"/>
            <a:ext cx="603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Khách nhập số tài khoản + tên ngân hàng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Admin chuyển khoản thủ công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0000" y="2412000"/>
            <a:ext cx="6300000" cy="12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40000" y="2412000"/>
            <a:ext cx="90000" cy="126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000" y="2484000"/>
            <a:ext cx="60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007AFF"/>
                </a:solidFill>
                <a:latin typeface="Calibri"/>
              </a:rPr>
              <a:t>VNPay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8000" y="2772000"/>
            <a:ext cx="603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Hoàn về thẻ thanh toán gốc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Cần Cloud Function (TODO)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0000" y="3744000"/>
            <a:ext cx="6300000" cy="12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40000" y="3744000"/>
            <a:ext cx="90000" cy="1260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000" y="3816000"/>
            <a:ext cx="60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F3B30"/>
                </a:solidFill>
                <a:latin typeface="Calibri"/>
              </a:rPr>
              <a:t>Tác động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000" y="4104000"/>
            <a:ext cx="603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Tự động trừ doanh thu (refundedMoney)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Cập nhật tile Tiền hoàn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2" name="Oval 21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FD580"/>
              </a:gs>
              <a:gs pos="100000">
                <a:srgbClr val="FF6B9E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44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CHƯƠNG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52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Module Quản trị &amp; Chatbot tư vấn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0" y="3420000"/>
            <a:ext cx="7200000" cy="503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/>
          <a:lstStyle/>
          <a:p>
            <a:pPr algn="ctr"/>
            <a:r>
              <a:rPr sz="1800" b="1">
                <a:solidFill>
                  <a:srgbClr val="FF6B9E"/>
                </a:solidFill>
                <a:latin typeface="Calibri"/>
              </a:rPr>
              <a:t>TV4 – ……………………………………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14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6.3 AdminActivity  •  6.4-6.10 9 màn hình quản lý  •  6.11 Storage  •  6.12 Chatbot OpenAI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6.3 ADMIN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Hành trình quản trị viên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 / 36</a:t>
            </a:r>
          </a:p>
        </p:txBody>
      </p:sp>
      <p:pic>
        <p:nvPicPr>
          <p:cNvPr id="8" name="Picture 7" descr="diagram_admin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999" y="972000"/>
            <a:ext cx="3960000" cy="306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4140000"/>
            <a:ext cx="5400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4140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21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F6B9E"/>
                </a:solidFill>
                <a:latin typeface="Calibri"/>
              </a:rPr>
              <a:t>9 màn hình quản trị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500000"/>
            <a:ext cx="513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Dashboard • Users • Categories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Pets • Foods • Promotions • Vouchers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Orders • Returns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0000" y="4140000"/>
            <a:ext cx="5400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0000" y="4140000"/>
            <a:ext cx="90000" cy="936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8000" y="421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4500000"/>
            <a:ext cx="513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SnapshotListener cho mọi tile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Auto-update khi khách đặt đơn / refund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6.3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Sequence Diagram – Admin Dashboard real-time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 / 36</a:t>
            </a:r>
          </a:p>
        </p:txBody>
      </p:sp>
      <p:pic>
        <p:nvPicPr>
          <p:cNvPr id="8" name="Picture 7" descr="diagram_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024388"/>
            <a:ext cx="6120000" cy="403522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80000" y="1080000"/>
            <a:ext cx="4860000" cy="21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80000" y="1080000"/>
            <a:ext cx="90000" cy="216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8000" y="1152000"/>
            <a:ext cx="45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9 chỉ số real-time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8000" y="1440000"/>
            <a:ext cx="4590000" cy="17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Tổng doanh thu • Tổng đơn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Người dùng • Đơn pending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Preparing • Shipping • Delivered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Đơn huỷ • Tiền hoàn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80000" y="3311999"/>
            <a:ext cx="4860000" cy="172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80000" y="3311999"/>
            <a:ext cx="90000" cy="1728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000" y="3383999"/>
            <a:ext cx="45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800" b="1" i="0">
                <a:solidFill>
                  <a:srgbClr val="34C759"/>
                </a:solidFill>
                <a:latin typeface="Calibri"/>
              </a:rPr>
              <a:t>Quy tắc tính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8000" y="3671999"/>
            <a:ext cx="4590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Chỉ tính khách hàng ACTIVE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COD → đếm khi DELIVERED/COMPLETED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VNPAY → đếm khi PAID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Doanh thu thực = revenue – refund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8" name="Oval 17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6.12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Kiến trúc Chatbot RAG nhẹ với OpenAI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 / 36</a:t>
            </a:r>
          </a:p>
        </p:txBody>
      </p:sp>
      <p:pic>
        <p:nvPicPr>
          <p:cNvPr id="8" name="Picture 7" descr="diagram_chat-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782" y="972000"/>
            <a:ext cx="8404436" cy="27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51999" y="3960000"/>
            <a:ext cx="36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1999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999" y="4032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Khách chưa 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999" y="4320000"/>
            <a:ext cx="33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Lưu local SharedPreferences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Giới hạn 50 tin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60000" y="3960000"/>
            <a:ext cx="360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60000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58000" y="4032000"/>
            <a:ext cx="33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34C759"/>
                </a:solidFill>
                <a:latin typeface="Calibri"/>
              </a:rPr>
              <a:t>Khách đã 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8000" y="4320000"/>
            <a:ext cx="333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Sync lên Firestore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users/{uid}/sessions/{id}/messages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8000" y="3960000"/>
            <a:ext cx="3780000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68000" y="3960000"/>
            <a:ext cx="90000" cy="1080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6000" y="4032000"/>
            <a:ext cx="351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00" b="1" i="0">
                <a:solidFill>
                  <a:srgbClr val="7B42F6"/>
                </a:solidFill>
                <a:latin typeface="Calibri"/>
              </a:rPr>
              <a:t>Tính năng nâng cao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6000" y="4320000"/>
            <a:ext cx="351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Voice → Text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Gửi ảnh (Vision)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Markdown render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2" name="Oval 21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FD580"/>
              </a:gs>
              <a:gs pos="100000">
                <a:srgbClr val="FF3B30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44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CHƯƠNG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52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Kiểm thử – Triển khai – Đánh giá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780000"/>
            <a:ext cx="10080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7.1 Kế hoạch  •  7.2 Test case 5 module  •  7.4 Hiệu năng  •  7.5 Hướng dẫn build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7.2 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Tổng kết 49 test case (5 module) – PASS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2000" y="1260000"/>
            <a:ext cx="2160000" cy="18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B4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2000" y="1368000"/>
            <a:ext cx="21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7B42F6"/>
                </a:solidFill>
                <a:latin typeface="Calibri"/>
              </a:rPr>
              <a:t>Auth (TV1)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000" y="1800000"/>
            <a:ext cx="216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000" b="1" i="0">
                <a:solidFill>
                  <a:srgbClr val="1A1A1A"/>
                </a:solidFill>
                <a:latin typeface="Calibri"/>
              </a:rPr>
              <a:t>10 / 10 PASS</a:t>
            </a:r>
          </a:p>
        </p:txBody>
      </p:sp>
      <p:sp>
        <p:nvSpPr>
          <p:cNvPr id="11" name="Oval 10"/>
          <p:cNvSpPr/>
          <p:nvPr/>
        </p:nvSpPr>
        <p:spPr>
          <a:xfrm>
            <a:off x="1080001" y="2520000"/>
            <a:ext cx="503999" cy="503999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6000" y="1260000"/>
            <a:ext cx="2160000" cy="18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6000" y="1368000"/>
            <a:ext cx="21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00B8A9"/>
                </a:solidFill>
                <a:latin typeface="Calibri"/>
              </a:rPr>
              <a:t>Catalog (TV2)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6000" y="1800000"/>
            <a:ext cx="216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000" b="1" i="0">
                <a:solidFill>
                  <a:srgbClr val="1A1A1A"/>
                </a:solidFill>
                <a:latin typeface="Calibri"/>
              </a:rPr>
              <a:t>10 / 10 PASS</a:t>
            </a:r>
          </a:p>
        </p:txBody>
      </p:sp>
      <p:sp>
        <p:nvSpPr>
          <p:cNvPr id="15" name="Oval 14"/>
          <p:cNvSpPr/>
          <p:nvPr/>
        </p:nvSpPr>
        <p:spPr>
          <a:xfrm>
            <a:off x="3384001" y="2520000"/>
            <a:ext cx="503999" cy="503999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60000" y="1260000"/>
            <a:ext cx="2160000" cy="18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0000" y="1368000"/>
            <a:ext cx="21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34C759"/>
                </a:solidFill>
                <a:latin typeface="Calibri"/>
              </a:rPr>
              <a:t>Order (TV3)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0000" y="1800000"/>
            <a:ext cx="216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000" b="1" i="0">
                <a:solidFill>
                  <a:srgbClr val="1A1A1A"/>
                </a:solidFill>
                <a:latin typeface="Calibri"/>
              </a:rPr>
              <a:t>12 / 12 PASS</a:t>
            </a:r>
          </a:p>
        </p:txBody>
      </p:sp>
      <p:sp>
        <p:nvSpPr>
          <p:cNvPr id="19" name="Oval 18"/>
          <p:cNvSpPr/>
          <p:nvPr/>
        </p:nvSpPr>
        <p:spPr>
          <a:xfrm>
            <a:off x="5688001" y="2520000"/>
            <a:ext cx="503999" cy="503999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64000" y="1260000"/>
            <a:ext cx="2160000" cy="18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4000" y="1368000"/>
            <a:ext cx="21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FF6B9E"/>
                </a:solidFill>
                <a:latin typeface="Calibri"/>
              </a:rPr>
              <a:t>Admin (TV4)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4000" y="1800000"/>
            <a:ext cx="216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000" b="1" i="0">
                <a:solidFill>
                  <a:srgbClr val="1A1A1A"/>
                </a:solidFill>
                <a:latin typeface="Calibri"/>
              </a:rPr>
              <a:t>9 / 9 PASS</a:t>
            </a:r>
          </a:p>
        </p:txBody>
      </p:sp>
      <p:sp>
        <p:nvSpPr>
          <p:cNvPr id="23" name="Oval 22"/>
          <p:cNvSpPr/>
          <p:nvPr/>
        </p:nvSpPr>
        <p:spPr>
          <a:xfrm>
            <a:off x="7992001" y="2520000"/>
            <a:ext cx="503999" cy="503999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8000" y="1260000"/>
            <a:ext cx="2160000" cy="18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8000" y="1368000"/>
            <a:ext cx="21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  <a:latin typeface="Calibri"/>
              </a:rPr>
              <a:t>Chat (TV4)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8000" y="1800000"/>
            <a:ext cx="216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000" b="1" i="0">
                <a:solidFill>
                  <a:srgbClr val="1A1A1A"/>
                </a:solidFill>
                <a:latin typeface="Calibri"/>
              </a:rPr>
              <a:t>8 / 8 PASS</a:t>
            </a:r>
          </a:p>
        </p:txBody>
      </p:sp>
      <p:sp>
        <p:nvSpPr>
          <p:cNvPr id="27" name="Oval 26"/>
          <p:cNvSpPr/>
          <p:nvPr/>
        </p:nvSpPr>
        <p:spPr>
          <a:xfrm>
            <a:off x="10296001" y="2520000"/>
            <a:ext cx="503999" cy="503999"/>
          </a:xfrm>
          <a:prstGeom prst="ellipse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2000" y="3780000"/>
            <a:ext cx="2160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2000" y="3780000"/>
            <a:ext cx="90000" cy="972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000" y="3852000"/>
            <a:ext cx="18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007AFF"/>
                </a:solidFill>
                <a:latin typeface="Calibri"/>
              </a:rPr>
              <a:t>1.6 - 2.0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000" y="4140000"/>
            <a:ext cx="189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Cold start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56000" y="3780000"/>
            <a:ext cx="2160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56000" y="3780000"/>
            <a:ext cx="90000" cy="972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4000" y="3852000"/>
            <a:ext cx="18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&lt; 2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54000" y="4140000"/>
            <a:ext cx="189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Trang chủ load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60000" y="3780000"/>
            <a:ext cx="2160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860000" y="3780000"/>
            <a:ext cx="90000" cy="972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58000" y="3852000"/>
            <a:ext cx="18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34C759"/>
                </a:solidFill>
                <a:latin typeface="Calibri"/>
              </a:rPr>
              <a:t>5 - 8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8000" y="4140000"/>
            <a:ext cx="189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VNPay round-trip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64000" y="3780000"/>
            <a:ext cx="2160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164000" y="3780000"/>
            <a:ext cx="90000" cy="972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2000" y="3852000"/>
            <a:ext cx="18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7B42F6"/>
                </a:solidFill>
                <a:latin typeface="Calibri"/>
              </a:rPr>
              <a:t>3 - 5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2000" y="4140000"/>
            <a:ext cx="189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Chat AI text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8000" y="3780000"/>
            <a:ext cx="2160000" cy="9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468000" y="3780000"/>
            <a:ext cx="90000" cy="972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66000" y="3852000"/>
            <a:ext cx="189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FF3B30"/>
                </a:solidFill>
                <a:latin typeface="Calibri"/>
              </a:rPr>
              <a:t>~ 18 MB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66000" y="4140000"/>
            <a:ext cx="189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APK Release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49" name="Oval 48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7.4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Ưu điểm &amp; Hạn chế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99" y="1080000"/>
            <a:ext cx="5400000" cy="39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999" y="1080000"/>
            <a:ext cx="90000" cy="396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999" y="115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34C759"/>
                </a:solidFill>
                <a:latin typeface="Calibri"/>
              </a:rPr>
              <a:t>✓  Ưu điểm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999" y="1440000"/>
            <a:ext cx="5130000" cy="3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Phủ trọn nghiệp vụ E-commerce thú cưng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Real-time mạnh nhờ Firestore SnapshotListener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Tích hợp 3 dịch vụ ngoài: Google + VNPay + OpenAI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Kiến trúc MVVM rõ ràng, dễ mở rộng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UI Material 3, tiếng Việt đầy đủ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Test pass 49/49 ca tiêu biểu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0000" y="1080000"/>
            <a:ext cx="5400000" cy="39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0000" y="1080000"/>
            <a:ext cx="90000" cy="396000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38000" y="115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00" b="1" i="0">
                <a:solidFill>
                  <a:srgbClr val="FF3B30"/>
                </a:solidFill>
                <a:latin typeface="Calibri"/>
              </a:rPr>
              <a:t>✗  Hạn chế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8000" y="1440000"/>
            <a:ext cx="5130000" cy="35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Chưa có FCM (mới in-app)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Refund VNPay vẫn thủ công (cần Cloud Function)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ShippingHelper hardcode vùng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Facebook Login chờ Meta xét duyệt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Chưa đa ngôn ngữ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Chưa có CI/CD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17" name="Oval 16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PHÂN CÔNG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Khối lượng công việc – chia đều 4 thành viên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99" y="1080000"/>
            <a:ext cx="2700000" cy="3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B4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1999" y="1080000"/>
            <a:ext cx="2700000" cy="864000"/>
          </a:xfrm>
          <a:prstGeom prst="rect">
            <a:avLst/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999" y="1134000"/>
            <a:ext cx="27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TV1
Nguyễn Hữu Đức Thọ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999" y="1638000"/>
            <a:ext cx="27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Trưởng nhóm – Chương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999" y="2052000"/>
            <a:ext cx="2520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Splash + điều hướng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Auth Email/Google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OTP qua JavaMail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Profile + Address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Notification real-time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SessionManager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999" y="4428000"/>
            <a:ext cx="1440000" cy="324000"/>
          </a:xfrm>
          <a:prstGeom prst="roundRect">
            <a:avLst>
              <a:gd name="adj" fmla="val 50000"/>
            </a:avLst>
          </a:prstGeom>
          <a:solidFill>
            <a:srgbClr val="7B4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25 %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59999" y="1080000"/>
            <a:ext cx="2700000" cy="3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59999" y="1080000"/>
            <a:ext cx="2700000" cy="864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59999" y="1134000"/>
            <a:ext cx="27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TV2
Đào Trúc Mai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9999" y="1638000"/>
            <a:ext cx="27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Chương 4 – Catalog &amp; Home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7999" y="2052000"/>
            <a:ext cx="2520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Model Pet/Food/Category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Repository Pet/Food/Category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HomeFragment + Banner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Pet/Food Detail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PromotionManager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Glide + Storage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9999" y="4428000"/>
            <a:ext cx="1440000" cy="324000"/>
          </a:xfrm>
          <a:prstGeom prst="roundRect">
            <a:avLst>
              <a:gd name="adj" fmla="val 50000"/>
            </a:avLst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67999" y="1080000"/>
            <a:ext cx="2700000" cy="3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67999" y="1080000"/>
            <a:ext cx="2700000" cy="86400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7999" y="1134000"/>
            <a:ext cx="27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TV3
Nguyễn Văn Trường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67999" y="1638000"/>
            <a:ext cx="27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Chương 5 – Order &amp; Payment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75999" y="2052000"/>
            <a:ext cx="2520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Cart + Checkout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ShippingHelper 4 vùng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VNPay (HMAC-SHA512)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OrderHistory / Detail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ReturnRequest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Apply voucher/promotion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7999" y="4428000"/>
            <a:ext cx="1440000" cy="324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25 %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5999" y="1080000"/>
            <a:ext cx="2700000" cy="3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F6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75999" y="1080000"/>
            <a:ext cx="2700000" cy="864000"/>
          </a:xfrm>
          <a:prstGeom prst="rect">
            <a:avLst/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75999" y="1134000"/>
            <a:ext cx="27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TV4
……………………………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5999" y="1638000"/>
            <a:ext cx="27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Chương 6 – Admin &amp; Chatbot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999" y="2052000"/>
            <a:ext cx="2520000" cy="24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AdminSetupHelper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Dashboard real-time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Manage 7 module CRUD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Upload media (Storage)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ChatViewModel + OkHttp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OpenAI gpt-4o-mini RAG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05999" y="4428000"/>
            <a:ext cx="1440000" cy="324000"/>
          </a:xfrm>
          <a:prstGeom prst="roundRect">
            <a:avLst>
              <a:gd name="adj" fmla="val 50000"/>
            </a:avLst>
          </a:prstGeom>
          <a:solidFill>
            <a:srgbClr val="FF6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25 %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282000"/>
            <a:ext cx="11471695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Tổng 100 %  •  Cả nhóm cùng làm: phân tích yêu cầu, kiểm thử chéo, viết báo cáo, slide, 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34" name="Oval 33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4000"/>
          </a:xfrm>
          <a:prstGeom prst="rect">
            <a:avLst/>
          </a:prstGeom>
          <a:solidFill>
            <a:srgbClr val="E09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98000"/>
            <a:ext cx="72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00" b="1" i="0">
                <a:solidFill>
                  <a:srgbClr val="E09010"/>
                </a:solidFill>
                <a:latin typeface="Calibri"/>
              </a:rPr>
              <a:t>8 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"/>
            <a:ext cx="11471695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Kết quả &amp; Hướng phát triển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882000"/>
            <a:ext cx="900000" cy="43200"/>
          </a:xfrm>
          <a:prstGeom prst="rect">
            <a:avLst/>
          </a:prstGeom>
          <a:solidFill>
            <a:srgbClr val="E09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31695" y="198000"/>
            <a:ext cx="90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 / 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99" y="1080000"/>
            <a:ext cx="5400000" cy="19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999" y="1080000"/>
            <a:ext cx="90000" cy="1980000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999" y="115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34C759"/>
                </a:solidFill>
                <a:latin typeface="Calibri"/>
              </a:rPr>
              <a:t>✓ Kết quả đạt được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999" y="1440000"/>
            <a:ext cx="513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Hoàn thành 100% chức năng bắt buộc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Hoàn thành 90% chức năng nâng cao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Test pass 49/49 ca tiêu biểu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Chạy ổn định Android 8.0+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Mã sạch, MVVM rõ ràng, dễ mở rộng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0000" y="1080000"/>
            <a:ext cx="5400000" cy="19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0000" y="1080000"/>
            <a:ext cx="90000" cy="1980000"/>
          </a:xfrm>
          <a:prstGeom prst="roundRect">
            <a:avLst>
              <a:gd name="adj" fmla="val 50000"/>
            </a:avLst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38000" y="1152000"/>
            <a:ext cx="5130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007AFF"/>
                </a:solidFill>
                <a:latin typeface="Calibri"/>
              </a:rPr>
              <a:t>★ Hướng phát triển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8000" y="1440000"/>
            <a:ext cx="513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Tích hợp Firebase Cloud Messaging (FCM)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Cloud Function tự động refund VNPay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Thay ShippingHelper bằng GHN/GHTK API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Hoàn thiện Facebook + Apple Sign-In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Đa ngôn ngữ + Bản iOS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AI gợi ý sản phẩm cá nhân hoá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1999" y="3131999"/>
            <a:ext cx="11088000" cy="1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D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1999" y="3131999"/>
            <a:ext cx="90000" cy="18000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999" y="3203999"/>
            <a:ext cx="10818000" cy="34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Sản phẩm bàn giao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999" y="3491999"/>
            <a:ext cx="10818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1 ứng dụng Android hoàn chỉnh • 30+ Activity • 14 ViewModel • 13 Repository • 17 Entity • ~20 000 LOC • 1 báo cáo Word + 1 slide PowerPoint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6516000"/>
            <a:ext cx="11471695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PetShop  •  Đồ án Phát triển Ứng dụng Di động  •  Nhóm 4 thành viên</a:t>
            </a:r>
          </a:p>
        </p:txBody>
      </p:sp>
      <p:sp>
        <p:nvSpPr>
          <p:cNvPr id="21" name="Oval 20"/>
          <p:cNvSpPr/>
          <p:nvPr/>
        </p:nvSpPr>
        <p:spPr>
          <a:xfrm>
            <a:off x="11759695" y="6516000"/>
            <a:ext cx="180000" cy="1800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F5A623"/>
              </a:gs>
              <a:gs pos="100000">
                <a:srgbClr val="E09010"/>
              </a:gs>
            </a:gsLst>
            <a:lin ang="81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40000" y="-1440000"/>
            <a:ext cx="3600000" cy="3600000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11695" y="3978000"/>
            <a:ext cx="5040000" cy="5040000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80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CẢM ƠN THẦY/CÔ ĐÃ LẮNG NGHE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880000"/>
            <a:ext cx="10080000" cy="72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Calibri"/>
              </a:rPr>
              <a:t>🐾  Q &amp; A  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4320000"/>
            <a:ext cx="1008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Nhóm PetShop • Nguyễn Hữu Đức Thọ • Đào Trúc Mai • Nguyễn Văn Trường • …………………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