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96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9311695" y="0"/>
            <a:ext cx="2880000" cy="3960000"/>
          </a:xfrm>
          <a:prstGeom prst="rtTriangle">
            <a:avLst/>
          </a:prstGeom>
          <a:solidFill>
            <a:srgbClr val="E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10751695" y="0"/>
            <a:ext cx="1440000" cy="3960000"/>
          </a:xfrm>
          <a:prstGeom prst="rtTriangle">
            <a:avLst/>
          </a:prstGeom>
          <a:solidFill>
            <a:srgbClr val="FFD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900000"/>
            <a:ext cx="720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ĐỒ ÁN PHÁT TRIỂN ỨNG DỤNG DI ĐỘNG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224000"/>
            <a:ext cx="7200000" cy="90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PETSHOP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340000"/>
            <a:ext cx="720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Ứng dụng cửa hàng thú cưng &amp; thức ăn trên Android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2880000"/>
            <a:ext cx="3960000" cy="3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18000" bIns="18000" wrap="square"/>
          <a:lstStyle/>
          <a:p>
            <a:pPr algn="ctr"/>
            <a:r>
              <a:rPr sz="1500" b="1">
                <a:solidFill>
                  <a:srgbClr val="E09010"/>
                </a:solidFill>
                <a:latin typeface="Calibri"/>
              </a:rPr>
              <a:t>Java • Firebase • VNPay • OpenAI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4320000"/>
            <a:ext cx="288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Thực hiện bởi: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4572000"/>
            <a:ext cx="720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Nguyễn Văn Trường   •   Đào Trúc Mai   •   Nguyễn Hữu Đức Thọ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4860000"/>
            <a:ext cx="720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GVHD: ………… • Năm học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599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98000"/>
            <a:ext cx="720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E09010"/>
                </a:solidFill>
                <a:latin typeface="Calibri"/>
              </a:rPr>
              <a:t>MỞ ĐẦU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78000"/>
            <a:ext cx="11471695" cy="46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Nội dung trình bày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827999"/>
            <a:ext cx="900000" cy="43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11695" y="198000"/>
            <a:ext cx="7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2 / 28</a:t>
            </a:r>
          </a:p>
        </p:txBody>
      </p:sp>
      <p:sp>
        <p:nvSpPr>
          <p:cNvPr id="8" name="Oval 7"/>
          <p:cNvSpPr/>
          <p:nvPr/>
        </p:nvSpPr>
        <p:spPr>
          <a:xfrm>
            <a:off x="900000" y="1152000"/>
            <a:ext cx="360000" cy="3600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0000" y="1170000"/>
            <a:ext cx="5400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Tổng quan đề tài</a:t>
            </a:r>
          </a:p>
        </p:txBody>
      </p:sp>
      <p:sp>
        <p:nvSpPr>
          <p:cNvPr id="10" name="Oval 9"/>
          <p:cNvSpPr/>
          <p:nvPr/>
        </p:nvSpPr>
        <p:spPr>
          <a:xfrm>
            <a:off x="900000" y="1602000"/>
            <a:ext cx="360000" cy="3600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0000" y="1620000"/>
            <a:ext cx="5400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Khảo sát &amp; Phân tích yêu cầu</a:t>
            </a:r>
          </a:p>
        </p:txBody>
      </p:sp>
      <p:sp>
        <p:nvSpPr>
          <p:cNvPr id="12" name="Oval 11"/>
          <p:cNvSpPr/>
          <p:nvPr/>
        </p:nvSpPr>
        <p:spPr>
          <a:xfrm>
            <a:off x="900000" y="2052000"/>
            <a:ext cx="360000" cy="360000"/>
          </a:xfrm>
          <a:prstGeom prst="ellipse">
            <a:avLst/>
          </a:prstGeom>
          <a:solidFill>
            <a:srgbClr val="66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000" y="2070000"/>
            <a:ext cx="5400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Phân tích – Thiết kế hệ thống</a:t>
            </a:r>
          </a:p>
        </p:txBody>
      </p:sp>
      <p:sp>
        <p:nvSpPr>
          <p:cNvPr id="14" name="Oval 13"/>
          <p:cNvSpPr/>
          <p:nvPr/>
        </p:nvSpPr>
        <p:spPr>
          <a:xfrm>
            <a:off x="900000" y="2502000"/>
            <a:ext cx="360000" cy="36000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0000" y="2520000"/>
            <a:ext cx="5400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Công nghệ &amp; Kiến trúc</a:t>
            </a:r>
          </a:p>
        </p:txBody>
      </p:sp>
      <p:sp>
        <p:nvSpPr>
          <p:cNvPr id="16" name="Oval 15"/>
          <p:cNvSpPr/>
          <p:nvPr/>
        </p:nvSpPr>
        <p:spPr>
          <a:xfrm>
            <a:off x="900000" y="2951999"/>
            <a:ext cx="360000" cy="360000"/>
          </a:xfrm>
          <a:prstGeom prst="ellipse">
            <a:avLst/>
          </a:prstGeom>
          <a:solidFill>
            <a:srgbClr val="E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0000" y="2969999"/>
            <a:ext cx="5400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Demo các chức năng chính</a:t>
            </a:r>
          </a:p>
        </p:txBody>
      </p:sp>
      <p:sp>
        <p:nvSpPr>
          <p:cNvPr id="18" name="Oval 17"/>
          <p:cNvSpPr/>
          <p:nvPr/>
        </p:nvSpPr>
        <p:spPr>
          <a:xfrm>
            <a:off x="900000" y="3401999"/>
            <a:ext cx="360000" cy="360000"/>
          </a:xfrm>
          <a:prstGeom prst="ellipse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0000" y="3419999"/>
            <a:ext cx="5400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Kiểm thử &amp; Đánh giá</a:t>
            </a:r>
          </a:p>
        </p:txBody>
      </p:sp>
      <p:sp>
        <p:nvSpPr>
          <p:cNvPr id="20" name="Oval 19"/>
          <p:cNvSpPr/>
          <p:nvPr/>
        </p:nvSpPr>
        <p:spPr>
          <a:xfrm>
            <a:off x="900000" y="3851999"/>
            <a:ext cx="360000" cy="3600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0000" y="3869999"/>
            <a:ext cx="5400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Phân công công việc</a:t>
            </a:r>
          </a:p>
        </p:txBody>
      </p:sp>
      <p:sp>
        <p:nvSpPr>
          <p:cNvPr id="22" name="Oval 21"/>
          <p:cNvSpPr/>
          <p:nvPr/>
        </p:nvSpPr>
        <p:spPr>
          <a:xfrm>
            <a:off x="900000" y="4302000"/>
            <a:ext cx="360000" cy="36000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0000" y="4320000"/>
            <a:ext cx="5400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Kết luận &amp; Hướng phát triển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000" y="6534000"/>
            <a:ext cx="11471695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PetShop – Đồ án Phát triển Ứng dụng Di động • Nhóm 3 thành viên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599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98000"/>
            <a:ext cx="720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E09010"/>
                </a:solidFill>
                <a:latin typeface="Calibri"/>
              </a:rPr>
              <a:t>1 • TỔNG QUAN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78000"/>
            <a:ext cx="11471695" cy="46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Vì sao chọn đề tài?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827999"/>
            <a:ext cx="900000" cy="43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11695" y="198000"/>
            <a:ext cx="7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3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007999"/>
            <a:ext cx="7200000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“Thị trường thú cưng tăng nóng – nhưng giao dịch còn rời rạc trên MXH.”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1584000"/>
            <a:ext cx="2520000" cy="169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00" y="1728000"/>
            <a:ext cx="2520000" cy="79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4600" b="1">
                <a:solidFill>
                  <a:srgbClr val="F5A623"/>
                </a:solidFill>
                <a:latin typeface="Calibri"/>
              </a:rPr>
              <a:t>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2520000"/>
            <a:ext cx="2160000" cy="72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hộ gia đình thành thị nuôi thú cưng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96000" y="1584000"/>
            <a:ext cx="2520000" cy="169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6000" y="1728000"/>
            <a:ext cx="2520000" cy="79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4600" b="1">
                <a:solidFill>
                  <a:srgbClr val="34C759"/>
                </a:solidFill>
                <a:latin typeface="Calibri"/>
              </a:rPr>
              <a:t>Top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6000" y="2520000"/>
            <a:ext cx="2160000" cy="72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thị trường thú cưng tăng trưởng nhanh ĐNÁ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000" y="3492000"/>
            <a:ext cx="2520000" cy="169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000" y="3636000"/>
            <a:ext cx="2520000" cy="79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4600" b="1">
                <a:solidFill>
                  <a:srgbClr val="FF3B30"/>
                </a:solidFill>
                <a:latin typeface="Calibri"/>
              </a:rPr>
              <a:t>80%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000" y="4428000"/>
            <a:ext cx="2160000" cy="72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giao dịch qua MXH, thiếu bảo đảm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96000" y="3492000"/>
            <a:ext cx="2520000" cy="169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96000" y="3636000"/>
            <a:ext cx="2520000" cy="79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4600" b="1">
                <a:solidFill>
                  <a:srgbClr val="007AFF"/>
                </a:solidFill>
                <a:latin typeface="Calibri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76000" y="4428000"/>
            <a:ext cx="2160000" cy="72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app Việt chuyên Pet kết hợp AI tư vấn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0000" y="1584000"/>
            <a:ext cx="4788000" cy="36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0000" y="1584000"/>
            <a:ext cx="90000" cy="36000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0000" y="1656000"/>
            <a:ext cx="4572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00" b="1">
                <a:solidFill>
                  <a:srgbClr val="F5A623"/>
                </a:solidFill>
                <a:latin typeface="Calibri"/>
              </a:rPr>
              <a:t>Cần một giải pháp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0000" y="1926000"/>
            <a:ext cx="4572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Nền tảng tập trung, chuyên cho lĩnh vực thú cưng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Có tích hợp thanh toán điện tử &amp; AI tư vấn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Hỗ trợ cả KHÁCH HÀNG và QUẢN TRỊ VIÊN trong 1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000" y="6534000"/>
            <a:ext cx="11471695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PetShop – Đồ án Phát triển Ứng dụng Di động • Nhóm 3 thành viên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599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98000"/>
            <a:ext cx="720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E09010"/>
                </a:solidFill>
                <a:latin typeface="Calibri"/>
              </a:rPr>
              <a:t>1 • TỔNG QUAN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78000"/>
            <a:ext cx="11471695" cy="46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Mục tiêu &amp; Phạm vi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827999"/>
            <a:ext cx="900000" cy="43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11695" y="198000"/>
            <a:ext cx="7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4 /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1152000"/>
            <a:ext cx="3456000" cy="12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0000" y="1152000"/>
            <a:ext cx="90000" cy="12240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1224000"/>
            <a:ext cx="3240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Người dùng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1494000"/>
            <a:ext cx="324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Khách hàng + Quản trị viên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60000" y="1152000"/>
            <a:ext cx="3456000" cy="12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960000" y="1152000"/>
            <a:ext cx="90000" cy="122400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0000" y="1224000"/>
            <a:ext cx="3240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007AFF"/>
                </a:solidFill>
                <a:latin typeface="Calibri"/>
              </a:rPr>
              <a:t>Sản phẩm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40000" y="1494000"/>
            <a:ext cx="324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Thú cưng (Pet) + Thức ăn (Food)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60000" y="1152000"/>
            <a:ext cx="3456000" cy="12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560000" y="1152000"/>
            <a:ext cx="90000" cy="1224000"/>
          </a:xfrm>
          <a:prstGeom prst="roundRect">
            <a:avLst>
              <a:gd name="adj" fmla="val 5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40000" y="1224000"/>
            <a:ext cx="3240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34C759"/>
                </a:solidFill>
                <a:latin typeface="Calibri"/>
              </a:rPr>
              <a:t>E-commerce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0000" y="1494000"/>
            <a:ext cx="324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Cart → Checkout → COD/VNPay → Giao hàng → Hoàn trả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0000" y="2520000"/>
            <a:ext cx="3456000" cy="12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0000" y="2520000"/>
            <a:ext cx="90000" cy="1224000"/>
          </a:xfrm>
          <a:prstGeom prst="roundRect">
            <a:avLst>
              <a:gd name="adj" fmla="val 50000"/>
            </a:avLst>
          </a:prstGeom>
          <a:solidFill>
            <a:srgbClr val="66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0000" y="2592000"/>
            <a:ext cx="3240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6633CC"/>
                </a:solidFill>
                <a:latin typeface="Calibri"/>
              </a:rPr>
              <a:t>Backend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" y="2862000"/>
            <a:ext cx="324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Firebase Auth + Firestore + Storage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60000" y="2520000"/>
            <a:ext cx="3456000" cy="12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960000" y="2520000"/>
            <a:ext cx="90000" cy="1224000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40000" y="2592000"/>
            <a:ext cx="3240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FF3B30"/>
                </a:solidFill>
                <a:latin typeface="Calibri"/>
              </a:rPr>
              <a:t>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40000" y="2862000"/>
            <a:ext cx="324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Chatbot OpenAI gpt-4o-mini tư vấn 24/7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60000" y="2520000"/>
            <a:ext cx="3456000" cy="12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560000" y="2520000"/>
            <a:ext cx="90000" cy="1224000"/>
          </a:xfrm>
          <a:prstGeom prst="roundRect">
            <a:avLst>
              <a:gd name="adj" fmla="val 50000"/>
            </a:avLst>
          </a:prstGeom>
          <a:solidFill>
            <a:srgbClr val="E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40000" y="2592000"/>
            <a:ext cx="3240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E09010"/>
                </a:solidFill>
                <a:latin typeface="Calibri"/>
              </a:rPr>
              <a:t>Kiến trúc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40000" y="2862000"/>
            <a:ext cx="324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MVVM + Repository Pattern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000" y="6534000"/>
            <a:ext cx="11471695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PetShop – Đồ án Phát triển Ứng dụng Di động • Nhóm 3 thành viên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599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98000"/>
            <a:ext cx="720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E09010"/>
                </a:solidFill>
                <a:latin typeface="Calibri"/>
              </a:rPr>
              <a:t>2 • PHÂN TÍCH YÊU CẦU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78000"/>
            <a:ext cx="11471695" cy="46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Use Case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827999"/>
            <a:ext cx="900000" cy="43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11695" y="198000"/>
            <a:ext cx="7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5 / 28</a:t>
            </a:r>
          </a:p>
        </p:txBody>
      </p:sp>
      <p:pic>
        <p:nvPicPr>
          <p:cNvPr id="8" name="Picture 7" descr="diagram_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1188307"/>
            <a:ext cx="11340000" cy="262738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51999" y="4140000"/>
            <a:ext cx="54000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1999" y="4140000"/>
            <a:ext cx="90000" cy="9360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999" y="4212000"/>
            <a:ext cx="518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1">
                <a:solidFill>
                  <a:srgbClr val="F5A623"/>
                </a:solidFill>
                <a:latin typeface="Calibri"/>
              </a:rPr>
              <a:t>Khách hàng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999" y="4482000"/>
            <a:ext cx="518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10 chức năng chính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Đặt hàng + Thanh toán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Hoàn trả + Đánh giá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Chat AI 24/7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0000" y="4140000"/>
            <a:ext cx="54000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0000" y="4140000"/>
            <a:ext cx="90000" cy="93600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0000" y="4212000"/>
            <a:ext cx="518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libri"/>
              </a:rPr>
              <a:t>Quản trị viên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0000" y="4482000"/>
            <a:ext cx="518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Dashboard real-time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CRUD Pet/Food/Voucher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Duyệt đơn &amp; Hoàn trả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Gửi notification hàng loạt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6534000"/>
            <a:ext cx="11471695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PetShop – Đồ án Phát triển Ứng dụng Di động • Nhóm 3 thành viên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599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98000"/>
            <a:ext cx="720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E09010"/>
                </a:solidFill>
                <a:latin typeface="Calibri"/>
              </a:rPr>
              <a:t>3 • THIẾT KẾ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78000"/>
            <a:ext cx="11471695" cy="46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Kiến trúc tổng thể (MVVM + Repository + Firebase)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827999"/>
            <a:ext cx="900000" cy="43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11695" y="198000"/>
            <a:ext cx="7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6 / 28</a:t>
            </a:r>
          </a:p>
        </p:txBody>
      </p:sp>
      <p:pic>
        <p:nvPicPr>
          <p:cNvPr id="8" name="Picture 7" descr="diagra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976" y="1007999"/>
            <a:ext cx="9946046" cy="270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51999" y="3960000"/>
            <a:ext cx="2700000" cy="1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1999" y="3960000"/>
            <a:ext cx="90000" cy="10800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999" y="4032000"/>
            <a:ext cx="248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1">
                <a:solidFill>
                  <a:srgbClr val="F5A623"/>
                </a:solidFill>
                <a:latin typeface="Calibri"/>
              </a:rPr>
              <a:t>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999" y="4302000"/>
            <a:ext cx="248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Activity / Fragment / Adapter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95999" y="3960000"/>
            <a:ext cx="2700000" cy="1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95999" y="3960000"/>
            <a:ext cx="90000" cy="108000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75999" y="4032000"/>
            <a:ext cx="248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libri"/>
              </a:rPr>
              <a:t>ViewModel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5999" y="4302000"/>
            <a:ext cx="248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LiveData – tách logic UI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39999" y="3960000"/>
            <a:ext cx="2700000" cy="1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39999" y="3960000"/>
            <a:ext cx="90000" cy="1080000"/>
          </a:xfrm>
          <a:prstGeom prst="roundRect">
            <a:avLst>
              <a:gd name="adj" fmla="val 5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19999" y="4032000"/>
            <a:ext cx="248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1">
                <a:solidFill>
                  <a:srgbClr val="34C759"/>
                </a:solidFill>
                <a:latin typeface="Calibri"/>
              </a:rPr>
              <a:t>Repository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9999" y="4302000"/>
            <a:ext cx="248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I/O Firestore + API ngoài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83999" y="3960000"/>
            <a:ext cx="2700000" cy="1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83999" y="3960000"/>
            <a:ext cx="90000" cy="1080000"/>
          </a:xfrm>
          <a:prstGeom prst="roundRect">
            <a:avLst>
              <a:gd name="adj" fmla="val 50000"/>
            </a:avLst>
          </a:prstGeom>
          <a:solidFill>
            <a:srgbClr val="66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3999" y="4032000"/>
            <a:ext cx="248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1">
                <a:solidFill>
                  <a:srgbClr val="6633CC"/>
                </a:solidFill>
                <a:latin typeface="Calibri"/>
              </a:rPr>
              <a:t>Backend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3999" y="4302000"/>
            <a:ext cx="248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Firebase + VNPay + OpenAI + SMTP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000" y="6534000"/>
            <a:ext cx="11471695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PetShop – Đồ án Phát triển Ứng dụng Di động • Nhóm 3 thành viên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599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98000"/>
            <a:ext cx="720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E09010"/>
                </a:solidFill>
                <a:latin typeface="Calibri"/>
              </a:rPr>
              <a:t>3 • THIẾT KẾ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78000"/>
            <a:ext cx="11471695" cy="46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Mô hình dữ liệu (Firestore – ER logic)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827999"/>
            <a:ext cx="900000" cy="43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11695" y="198000"/>
            <a:ext cx="7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7 / 28</a:t>
            </a:r>
          </a:p>
        </p:txBody>
      </p:sp>
      <p:pic>
        <p:nvPicPr>
          <p:cNvPr id="8" name="Picture 7" descr="diagram_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600" y="1007999"/>
            <a:ext cx="8130798" cy="270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51999" y="3960000"/>
            <a:ext cx="5580000" cy="1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1999" y="3960000"/>
            <a:ext cx="90000" cy="1080000"/>
          </a:xfrm>
          <a:prstGeom prst="roundRect">
            <a:avLst>
              <a:gd name="adj" fmla="val 50000"/>
            </a:avLst>
          </a:prstGeom>
          <a:solidFill>
            <a:srgbClr val="66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999" y="4032000"/>
            <a:ext cx="536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1">
                <a:solidFill>
                  <a:srgbClr val="6633CC"/>
                </a:solidFill>
                <a:latin typeface="Calibri"/>
              </a:rPr>
              <a:t>15 collection chính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999" y="4302000"/>
            <a:ext cx="536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users, addresses, notifications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pets, foods, categories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orders, order_items, return_requests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vouchers, voucher_usage, promotions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chat_sessions, chat_messages, banners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12000" y="3960000"/>
            <a:ext cx="5580000" cy="1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12000" y="3960000"/>
            <a:ext cx="90000" cy="1080000"/>
          </a:xfrm>
          <a:prstGeom prst="roundRect">
            <a:avLst>
              <a:gd name="adj" fmla="val 5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2000" y="4032000"/>
            <a:ext cx="536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1">
                <a:solidFill>
                  <a:srgbClr val="34C759"/>
                </a:solidFill>
                <a:latin typeface="Calibri"/>
              </a:rPr>
              <a:t>Điểm thiết kế nổi bật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2000" y="4302000"/>
            <a:ext cx="536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Snapshot listener real-time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Atomic update bằng Firestore Transaction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Sub-collection cho voucher_usage / chat_messages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6534000"/>
            <a:ext cx="11471695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PetShop – Đồ án Phát triển Ứng dụng Di động • Nhóm 3 thành viên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599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98000"/>
            <a:ext cx="720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E09010"/>
                </a:solidFill>
                <a:latin typeface="Calibri"/>
              </a:rPr>
              <a:t>3 • THIẾT KẾ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78000"/>
            <a:ext cx="11471695" cy="46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Luồng Đăng ký – Đăng nhập (Auth Flow)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827999"/>
            <a:ext cx="900000" cy="43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11695" y="198000"/>
            <a:ext cx="7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8 / 28</a:t>
            </a:r>
          </a:p>
        </p:txBody>
      </p:sp>
      <p:pic>
        <p:nvPicPr>
          <p:cNvPr id="8" name="Picture 7" descr="diagram_auth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226" y="972000"/>
            <a:ext cx="4451548" cy="414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00000" y="1080000"/>
            <a:ext cx="3240000" cy="3600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18000" bIns="1800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Email + Password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0000" y="1548000"/>
            <a:ext cx="3240000" cy="36000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18000" bIns="1800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Google Sign-In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0000" y="2015999"/>
            <a:ext cx="3240000" cy="360000"/>
          </a:xfrm>
          <a:prstGeom prst="roundRect">
            <a:avLst>
              <a:gd name="adj" fmla="val 5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18000" bIns="1800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OTP qua Gmail SMTP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0000" y="2484000"/>
            <a:ext cx="3240000" cy="360000"/>
          </a:xfrm>
          <a:prstGeom prst="roundRect">
            <a:avLst>
              <a:gd name="adj" fmla="val 50000"/>
            </a:avLst>
          </a:prstGeom>
          <a:solidFill>
            <a:srgbClr val="66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18000" bIns="1800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Quên mật khẩu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0000" y="2988000"/>
            <a:ext cx="3240000" cy="19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00000" y="2988000"/>
            <a:ext cx="90000" cy="1980000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0000" y="3060000"/>
            <a:ext cx="302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1">
                <a:solidFill>
                  <a:srgbClr val="FF3B30"/>
                </a:solidFill>
                <a:latin typeface="Calibri"/>
              </a:rPr>
              <a:t>Bảo mật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0000" y="3330000"/>
            <a:ext cx="3024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Firebase Auth quản lý phiên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OTP 6 số sinh ngẫu nhiên (5 phút)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parseAuthError → dịch tiếng Việt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6534000"/>
            <a:ext cx="11471695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PetShop – Đồ án Phát triển Ứng dụng Di động • Nhóm 3 thành viên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599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98000"/>
            <a:ext cx="720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E09010"/>
                </a:solidFill>
                <a:latin typeface="Calibri"/>
              </a:rPr>
              <a:t>3 • THIẾT KẾ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78000"/>
            <a:ext cx="11471695" cy="46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Luồng Đặt hàng &amp; Thanh toán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827999"/>
            <a:ext cx="900000" cy="43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11695" y="198000"/>
            <a:ext cx="7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9 / 28</a:t>
            </a:r>
          </a:p>
        </p:txBody>
      </p:sp>
      <p:pic>
        <p:nvPicPr>
          <p:cNvPr id="8" name="Picture 7" descr="diagram_checkout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799" y="972000"/>
            <a:ext cx="1934402" cy="414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760000" y="1080000"/>
            <a:ext cx="5580000" cy="11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60000" y="1080000"/>
            <a:ext cx="90000" cy="11520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0000" y="1152000"/>
            <a:ext cx="536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2 phương thức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0000" y="1422000"/>
            <a:ext cx="5364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COD – Pending ngay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VNPay – chờ thanh toán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000" y="2304000"/>
            <a:ext cx="5580000" cy="18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60000" y="2304000"/>
            <a:ext cx="90000" cy="1800000"/>
          </a:xfrm>
          <a:prstGeom prst="roundRect">
            <a:avLst>
              <a:gd name="adj" fmla="val 5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0000" y="2376000"/>
            <a:ext cx="536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34C759"/>
                </a:solidFill>
                <a:latin typeface="Calibri"/>
              </a:rPr>
              <a:t>Phí ship theo vùng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0000" y="2646000"/>
            <a:ext cx="5364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TP. HCM: 30k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Miền Nam: 45k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Miền Trung: 60k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Miền Bắc: 75k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Free ship ≥ 500.000đ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000" y="4176000"/>
            <a:ext cx="5580000" cy="86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760000" y="4176000"/>
            <a:ext cx="90000" cy="86400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0000" y="4248000"/>
            <a:ext cx="536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007AFF"/>
                </a:solidFill>
                <a:latin typeface="Calibri"/>
              </a:rPr>
              <a:t>Voucher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0000" y="4518000"/>
            <a:ext cx="5364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PERCENT • FIXED • FREESHIP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000" y="6534000"/>
            <a:ext cx="11471695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PetShop – Đồ án Phát triển Ứng dụng Di động • Nhóm 3 thành viên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599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98000"/>
            <a:ext cx="720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E09010"/>
                </a:solidFill>
                <a:latin typeface="Calibri"/>
              </a:rPr>
              <a:t>3 • THIẾT KẾ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78000"/>
            <a:ext cx="11471695" cy="46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Sơ đồ trạng thái Đơn hàng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827999"/>
            <a:ext cx="900000" cy="43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11695" y="198000"/>
            <a:ext cx="7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10 / 28</a:t>
            </a:r>
          </a:p>
        </p:txBody>
      </p:sp>
      <p:pic>
        <p:nvPicPr>
          <p:cNvPr id="8" name="Picture 7" descr="diagram_order-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516" y="972000"/>
            <a:ext cx="2200966" cy="414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580000" y="1080000"/>
            <a:ext cx="5760000" cy="21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80000" y="1080000"/>
            <a:ext cx="90000" cy="2160000"/>
          </a:xfrm>
          <a:prstGeom prst="roundRect">
            <a:avLst>
              <a:gd name="adj" fmla="val 50000"/>
            </a:avLst>
          </a:prstGeom>
          <a:solidFill>
            <a:srgbClr val="66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0" y="1152000"/>
            <a:ext cx="554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6633CC"/>
                </a:solidFill>
                <a:latin typeface="Calibri"/>
              </a:rPr>
              <a:t>11 trạng thái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000" y="1422000"/>
            <a:ext cx="5544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WAITING_PAYMENT  •  PENDING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CONFIRMED  •  PREPARING  •  SHIPPING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DELIVERED  •  COMPLETED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CANCELLED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RETURN_REQUESTED  •  RETURN_APPROVED  •  REFUNDED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80000" y="3311999"/>
            <a:ext cx="5760000" cy="172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80000" y="3311999"/>
            <a:ext cx="90000" cy="1728000"/>
          </a:xfrm>
          <a:prstGeom prst="roundRect">
            <a:avLst>
              <a:gd name="adj" fmla="val 5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000" y="3383999"/>
            <a:ext cx="554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34C759"/>
                </a:solidFill>
                <a:latin typeface="Calibri"/>
              </a:rPr>
              <a:t>Bảo toàn dữ liệu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000" y="3653999"/>
            <a:ext cx="55440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Mọi chuyển trạng thái dùng Firestore Transaction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Tự động hoàn stock &amp; lượt voucher khi CANCELLED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Cập nhật totalOrders / totalSpent best-effort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6534000"/>
            <a:ext cx="11471695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PetShop – Đồ án Phát triển Ứng dụng Di động • Nhóm 3 thành viên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599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98000"/>
            <a:ext cx="720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E09010"/>
                </a:solidFill>
                <a:latin typeface="Calibri"/>
              </a:rPr>
              <a:t>3 • THIẾT KẾ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78000"/>
            <a:ext cx="11471695" cy="46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Sequence Diagram – Thanh toán VNPay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827999"/>
            <a:ext cx="900000" cy="43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11695" y="198000"/>
            <a:ext cx="7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11 / 28</a:t>
            </a:r>
          </a:p>
        </p:txBody>
      </p:sp>
      <p:pic>
        <p:nvPicPr>
          <p:cNvPr id="8" name="Picture 7" descr="diagram_sequence-vnp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838" y="972000"/>
            <a:ext cx="7224324" cy="270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51999" y="3960000"/>
            <a:ext cx="5580000" cy="11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1999" y="3960000"/>
            <a:ext cx="90000" cy="1152000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999" y="4032000"/>
            <a:ext cx="536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1">
                <a:solidFill>
                  <a:srgbClr val="FF3B30"/>
                </a:solidFill>
                <a:latin typeface="Calibri"/>
              </a:rPr>
              <a:t>VNPayHelper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999" y="4302000"/>
            <a:ext cx="5364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URL-encode UTF-8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Sort tham số TreeMap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HMAC-SHA512 chữ ký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vnp_ExpireDate = 15 phút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12000" y="3960000"/>
            <a:ext cx="5580000" cy="11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12000" y="3960000"/>
            <a:ext cx="90000" cy="1152000"/>
          </a:xfrm>
          <a:prstGeom prst="roundRect">
            <a:avLst>
              <a:gd name="adj" fmla="val 5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2000" y="4032000"/>
            <a:ext cx="536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1">
                <a:solidFill>
                  <a:srgbClr val="34C759"/>
                </a:solidFill>
                <a:latin typeface="Calibri"/>
              </a:rPr>
              <a:t>completeVNPayOrder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2000" y="4302000"/>
            <a:ext cx="5364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Atomic transaction: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status = PENDING  •  paymentStatus = PAID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Trừ stock + Pet = RESERVED + Notification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6534000"/>
            <a:ext cx="11471695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PetShop – Đồ án Phát triển Ứng dụng Di động • Nhóm 3 thành viên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599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98000"/>
            <a:ext cx="720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E09010"/>
                </a:solidFill>
                <a:latin typeface="Calibri"/>
              </a:rPr>
              <a:t>3 • THIẾT KẾ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78000"/>
            <a:ext cx="11471695" cy="46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Chat AI – RAG nhẹ với dữ liệu sản phẩm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827999"/>
            <a:ext cx="900000" cy="43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11695" y="198000"/>
            <a:ext cx="7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12 / 28</a:t>
            </a:r>
          </a:p>
        </p:txBody>
      </p:sp>
      <p:pic>
        <p:nvPicPr>
          <p:cNvPr id="8" name="Picture 7" descr="diagram_chat-r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782" y="972000"/>
            <a:ext cx="8404436" cy="270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51999" y="3960000"/>
            <a:ext cx="3600000" cy="11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1999" y="3960000"/>
            <a:ext cx="90000" cy="11520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999" y="4032000"/>
            <a:ext cx="338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1">
                <a:solidFill>
                  <a:srgbClr val="F5A623"/>
                </a:solidFill>
                <a:latin typeface="Calibri"/>
              </a:rPr>
              <a:t>Khách chưa 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999" y="4302000"/>
            <a:ext cx="3384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Lưu local SharedPreferences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Giới hạn 50 tin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60000" y="3960000"/>
            <a:ext cx="3600000" cy="11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60000" y="3960000"/>
            <a:ext cx="90000" cy="1152000"/>
          </a:xfrm>
          <a:prstGeom prst="roundRect">
            <a:avLst>
              <a:gd name="adj" fmla="val 5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40000" y="4032000"/>
            <a:ext cx="338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1">
                <a:solidFill>
                  <a:srgbClr val="34C759"/>
                </a:solidFill>
                <a:latin typeface="Calibri"/>
              </a:rPr>
              <a:t>Khách đã 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0000" y="4302000"/>
            <a:ext cx="3384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Sync lên Firestore (chat_sessions)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Đa phiên hội thoại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68000" y="3960000"/>
            <a:ext cx="3780000" cy="11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668000" y="3960000"/>
            <a:ext cx="90000" cy="1152000"/>
          </a:xfrm>
          <a:prstGeom prst="roundRect">
            <a:avLst>
              <a:gd name="adj" fmla="val 50000"/>
            </a:avLst>
          </a:prstGeom>
          <a:solidFill>
            <a:srgbClr val="66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8000" y="4032000"/>
            <a:ext cx="356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1">
                <a:solidFill>
                  <a:srgbClr val="6633CC"/>
                </a:solidFill>
                <a:latin typeface="Calibri"/>
              </a:rPr>
              <a:t>Tính năng nâng cao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8000" y="4302000"/>
            <a:ext cx="3564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Voice → Text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Gửi ảnh (Base64)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Markdown render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000" y="6534000"/>
            <a:ext cx="11471695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PetShop – Đồ án Phát triển Ứng dụng Di động • Nhóm 3 thành viên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599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98000"/>
            <a:ext cx="720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E09010"/>
                </a:solidFill>
                <a:latin typeface="Calibri"/>
              </a:rPr>
              <a:t>3 • THIẾT KẾ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78000"/>
            <a:ext cx="11471695" cy="46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Luồng Hoàn trả &amp; Hoàn tiền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827999"/>
            <a:ext cx="900000" cy="43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11695" y="198000"/>
            <a:ext cx="7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13 / 28</a:t>
            </a:r>
          </a:p>
        </p:txBody>
      </p:sp>
      <p:pic>
        <p:nvPicPr>
          <p:cNvPr id="8" name="Picture 7" descr="diagram_return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381" y="972000"/>
            <a:ext cx="1243237" cy="414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40000" y="1080000"/>
            <a:ext cx="6300000" cy="14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40000" y="1080000"/>
            <a:ext cx="90000" cy="14400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20000" y="1152000"/>
            <a:ext cx="608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Hoàn trả COD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20000" y="1422000"/>
            <a:ext cx="608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Khách nhập Số tài khoản + Tên ngân hàng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Admin chuyển khoản thủ công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Status: REQUESTED → APPROVED → REFUNDED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0000" y="2592000"/>
            <a:ext cx="6300000" cy="12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40000" y="2592000"/>
            <a:ext cx="90000" cy="126000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20000" y="2664000"/>
            <a:ext cx="608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007AFF"/>
                </a:solidFill>
                <a:latin typeface="Calibri"/>
              </a:rPr>
              <a:t>Hoàn trả VNPay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0000" y="2934000"/>
            <a:ext cx="6084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Hoàn về thẻ/tài khoản thanh toán gốc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Cần tích hợp Cloud Function (TODO)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0000" y="3924000"/>
            <a:ext cx="6300000" cy="1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40000" y="3924000"/>
            <a:ext cx="90000" cy="1080000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20000" y="3996000"/>
            <a:ext cx="608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FF3B30"/>
                </a:solidFill>
                <a:latin typeface="Calibri"/>
              </a:rPr>
              <a:t>Tác động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0000" y="4266000"/>
            <a:ext cx="608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Tự động trừ doanh thu (refundedMoney)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Cập nhật tile Tiền hoàn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000" y="6534000"/>
            <a:ext cx="11471695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PetShop – Đồ án Phát triển Ứng dụng Di động • Nhóm 3 thành viên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599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98000"/>
            <a:ext cx="720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E09010"/>
                </a:solidFill>
                <a:latin typeface="Calibri"/>
              </a:rPr>
              <a:t>3 • THIẾT KẾ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78000"/>
            <a:ext cx="11471695" cy="46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Admin Dashboard – Real-time với SnapshotListener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827999"/>
            <a:ext cx="900000" cy="43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11695" y="198000"/>
            <a:ext cx="7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14 / 28</a:t>
            </a:r>
          </a:p>
        </p:txBody>
      </p:sp>
      <p:pic>
        <p:nvPicPr>
          <p:cNvPr id="8" name="Picture 7" descr="diagram_admi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1024388"/>
            <a:ext cx="6120000" cy="403522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80000" y="1080000"/>
            <a:ext cx="4860000" cy="21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80000" y="1080000"/>
            <a:ext cx="90000" cy="21600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0000" y="1152000"/>
            <a:ext cx="464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9 chỉ số real-time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0000" y="1422000"/>
            <a:ext cx="4644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Tổng doanh thu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Tổng đơn (đã chốt)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Người dùng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Đơn pending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Preparing • Shipping • Delivered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Đơn huỷ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Tiền hoàn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80000" y="3311999"/>
            <a:ext cx="4860000" cy="172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80000" y="3311999"/>
            <a:ext cx="90000" cy="1728000"/>
          </a:xfrm>
          <a:prstGeom prst="roundRect">
            <a:avLst>
              <a:gd name="adj" fmla="val 5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60000" y="3383999"/>
            <a:ext cx="464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34C759"/>
                </a:solidFill>
                <a:latin typeface="Calibri"/>
              </a:rPr>
              <a:t>Quy tắc tính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0000" y="3653999"/>
            <a:ext cx="46440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Chỉ tính khách hàng ACTIVE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COD → đếm khi DELIVERED/COMPLETED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VNPAY → đếm khi PAID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Doanh thu thực = revenue – refund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6534000"/>
            <a:ext cx="11471695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PetShop – Đồ án Phát triển Ứng dụng Di động • Nhóm 3 thành viên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599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98000"/>
            <a:ext cx="720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E09010"/>
                </a:solidFill>
                <a:latin typeface="Calibri"/>
              </a:rPr>
              <a:t>4 • CÔNG NGHỆ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78000"/>
            <a:ext cx="11471695" cy="46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Stack đầy đủ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827999"/>
            <a:ext cx="900000" cy="43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11695" y="198000"/>
            <a:ext cx="7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15 /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1152000"/>
            <a:ext cx="2592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0000" y="1152000"/>
            <a:ext cx="90000" cy="9000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1224000"/>
            <a:ext cx="2376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00" b="1">
                <a:solidFill>
                  <a:srgbClr val="F5A623"/>
                </a:solidFill>
                <a:latin typeface="Calibri"/>
              </a:rPr>
              <a:t>Java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1494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Ngôn ngữ chính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96000" y="1152000"/>
            <a:ext cx="2592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96000" y="1152000"/>
            <a:ext cx="90000" cy="90000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76000" y="1224000"/>
            <a:ext cx="2376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00" b="1">
                <a:solidFill>
                  <a:srgbClr val="007AFF"/>
                </a:solidFill>
                <a:latin typeface="Calibri"/>
              </a:rPr>
              <a:t>Android SDK 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6000" y="1494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min API 24, target 36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32000" y="1152000"/>
            <a:ext cx="2592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32000" y="1152000"/>
            <a:ext cx="90000" cy="900000"/>
          </a:xfrm>
          <a:prstGeom prst="roundRect">
            <a:avLst>
              <a:gd name="adj" fmla="val 5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12000" y="1224000"/>
            <a:ext cx="2376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00" b="1">
                <a:solidFill>
                  <a:srgbClr val="34C759"/>
                </a:solidFill>
                <a:latin typeface="Calibri"/>
              </a:rPr>
              <a:t>Material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2000" y="1494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Component + Color theme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68000" y="1152000"/>
            <a:ext cx="2592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68000" y="1152000"/>
            <a:ext cx="90000" cy="900000"/>
          </a:xfrm>
          <a:prstGeom prst="roundRect">
            <a:avLst>
              <a:gd name="adj" fmla="val 50000"/>
            </a:avLst>
          </a:prstGeom>
          <a:solidFill>
            <a:srgbClr val="66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48000" y="1224000"/>
            <a:ext cx="2376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00" b="1">
                <a:solidFill>
                  <a:srgbClr val="6633CC"/>
                </a:solidFill>
                <a:latin typeface="Calibri"/>
              </a:rPr>
              <a:t>Firebase Auth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48000" y="1494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Email + Google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0000" y="2177999"/>
            <a:ext cx="2592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60000" y="2177999"/>
            <a:ext cx="90000" cy="900000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0000" y="2249999"/>
            <a:ext cx="2376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00" b="1">
                <a:solidFill>
                  <a:srgbClr val="FF3B30"/>
                </a:solidFill>
                <a:latin typeface="Calibri"/>
              </a:rPr>
              <a:t>Firestore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0000" y="2519999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NoSQL real-time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96000" y="2177999"/>
            <a:ext cx="2592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096000" y="2177999"/>
            <a:ext cx="90000" cy="900000"/>
          </a:xfrm>
          <a:prstGeom prst="roundRect">
            <a:avLst>
              <a:gd name="adj" fmla="val 50000"/>
            </a:avLst>
          </a:prstGeom>
          <a:solidFill>
            <a:srgbClr val="E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76000" y="2249999"/>
            <a:ext cx="2376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00" b="1">
                <a:solidFill>
                  <a:srgbClr val="E09010"/>
                </a:solidFill>
                <a:latin typeface="Calibri"/>
              </a:rPr>
              <a:t>Firebase Storage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76000" y="2519999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Upload ảnh / video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32000" y="2177999"/>
            <a:ext cx="2592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832000" y="2177999"/>
            <a:ext cx="90000" cy="90000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12000" y="2249999"/>
            <a:ext cx="2376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00" b="1">
                <a:solidFill>
                  <a:srgbClr val="007AFF"/>
                </a:solidFill>
                <a:latin typeface="Calibri"/>
              </a:rPr>
              <a:t>VNPay Sandbox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12000" y="2519999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HMAC-SHA512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68000" y="2177999"/>
            <a:ext cx="2592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568000" y="2177999"/>
            <a:ext cx="90000" cy="900000"/>
          </a:xfrm>
          <a:prstGeom prst="roundRect">
            <a:avLst>
              <a:gd name="adj" fmla="val 5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48000" y="2249999"/>
            <a:ext cx="2376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00" b="1">
                <a:solidFill>
                  <a:srgbClr val="34C759"/>
                </a:solidFill>
                <a:latin typeface="Calibri"/>
              </a:rPr>
              <a:t>OpenAI GPT-4o-mini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48000" y="2519999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Chatbot + Vision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0000" y="3203998"/>
            <a:ext cx="2592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60000" y="3203998"/>
            <a:ext cx="90000" cy="900000"/>
          </a:xfrm>
          <a:prstGeom prst="roundRect">
            <a:avLst>
              <a:gd name="adj" fmla="val 50000"/>
            </a:avLst>
          </a:prstGeom>
          <a:solidFill>
            <a:srgbClr val="66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0" y="3275998"/>
            <a:ext cx="2376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00" b="1">
                <a:solidFill>
                  <a:srgbClr val="6633CC"/>
                </a:solidFill>
                <a:latin typeface="Calibri"/>
              </a:rPr>
              <a:t>OkHttp + Gson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0000" y="3545998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HTTP &amp; JSON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96000" y="3203998"/>
            <a:ext cx="2592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096000" y="3203998"/>
            <a:ext cx="90000" cy="9000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76000" y="3275998"/>
            <a:ext cx="2376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00" b="1">
                <a:solidFill>
                  <a:srgbClr val="F5A623"/>
                </a:solidFill>
                <a:latin typeface="Calibri"/>
              </a:rPr>
              <a:t>Glide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76000" y="3545998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Tải &amp; cache ảnh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832000" y="3203998"/>
            <a:ext cx="2592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832000" y="3203998"/>
            <a:ext cx="90000" cy="900000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12000" y="3275998"/>
            <a:ext cx="2376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00" b="1">
                <a:solidFill>
                  <a:srgbClr val="FF3B30"/>
                </a:solidFill>
                <a:latin typeface="Calibri"/>
              </a:rPr>
              <a:t>JavaMail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12000" y="3545998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OTP qua Gmail SMTP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568000" y="3203998"/>
            <a:ext cx="2592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568000" y="3203998"/>
            <a:ext cx="90000" cy="900000"/>
          </a:xfrm>
          <a:prstGeom prst="roundRect">
            <a:avLst>
              <a:gd name="adj" fmla="val 50000"/>
            </a:avLst>
          </a:prstGeom>
          <a:solidFill>
            <a:srgbClr val="E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48000" y="3275998"/>
            <a:ext cx="2376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00" b="1">
                <a:solidFill>
                  <a:srgbClr val="E09010"/>
                </a:solidFill>
                <a:latin typeface="Calibri"/>
              </a:rPr>
              <a:t>Gradle KTS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48000" y="3545998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Version Catalog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0000" y="6534000"/>
            <a:ext cx="11471695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PetShop – Đồ án Phát triển Ứng dụng Di động • Nhóm 3 thành viên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599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98000"/>
            <a:ext cx="720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E09010"/>
                </a:solidFill>
                <a:latin typeface="Calibri"/>
              </a:rPr>
              <a:t>4 • CÔNG NGHỆ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78000"/>
            <a:ext cx="11471695" cy="46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Quy mô mã nguồn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827999"/>
            <a:ext cx="900000" cy="43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11695" y="198000"/>
            <a:ext cx="7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16 /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1224000"/>
            <a:ext cx="2592000" cy="169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1404000"/>
            <a:ext cx="2592000" cy="86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4400" b="1">
                <a:solidFill>
                  <a:srgbClr val="F5A623"/>
                </a:solidFill>
                <a:latin typeface="Calibri"/>
              </a:rPr>
              <a:t>30+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2304000"/>
            <a:ext cx="2592000" cy="503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Calibri"/>
              </a:rPr>
              <a:t>Activity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96000" y="1224000"/>
            <a:ext cx="2592000" cy="169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6000" y="1404000"/>
            <a:ext cx="2592000" cy="86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4400" b="1">
                <a:solidFill>
                  <a:srgbClr val="007AFF"/>
                </a:solidFill>
                <a:latin typeface="Calibri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6000" y="2304000"/>
            <a:ext cx="2592000" cy="503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Calibri"/>
              </a:rPr>
              <a:t>Fragment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32000" y="1224000"/>
            <a:ext cx="2592000" cy="169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32000" y="1404000"/>
            <a:ext cx="2592000" cy="86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4400" b="1">
                <a:solidFill>
                  <a:srgbClr val="34C759"/>
                </a:solidFill>
                <a:latin typeface="Calibri"/>
              </a:rPr>
              <a:t>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32000" y="2304000"/>
            <a:ext cx="2592000" cy="503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Calibri"/>
              </a:rPr>
              <a:t>Adapter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68000" y="1224000"/>
            <a:ext cx="2592000" cy="169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663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8000" y="1404000"/>
            <a:ext cx="2592000" cy="86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4400" b="1">
                <a:solidFill>
                  <a:srgbClr val="6633CC"/>
                </a:solidFill>
                <a:latin typeface="Calibri"/>
              </a:rP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8000" y="2304000"/>
            <a:ext cx="2592000" cy="503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Calibri"/>
              </a:rPr>
              <a:t>ViewModel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0000" y="3060000"/>
            <a:ext cx="2592000" cy="169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000" y="3240000"/>
            <a:ext cx="2592000" cy="86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4400" b="1">
                <a:solidFill>
                  <a:srgbClr val="FF3B30"/>
                </a:solidFill>
                <a:latin typeface="Calibri"/>
              </a:rPr>
              <a:t>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000" y="4140000"/>
            <a:ext cx="2592000" cy="503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Calibri"/>
              </a:rPr>
              <a:t>Repository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96000" y="3060000"/>
            <a:ext cx="2592000" cy="169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09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96000" y="3240000"/>
            <a:ext cx="2592000" cy="86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4400" b="1">
                <a:solidFill>
                  <a:srgbClr val="E09010"/>
                </a:solidFill>
                <a:latin typeface="Calibri"/>
              </a:rPr>
              <a:t>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6000" y="4140000"/>
            <a:ext cx="2592000" cy="503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Calibri"/>
              </a:rPr>
              <a:t>Entity (model)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32000" y="3060000"/>
            <a:ext cx="2592000" cy="169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32000" y="3240000"/>
            <a:ext cx="2592000" cy="86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4400" b="1">
                <a:solidFill>
                  <a:srgbClr val="007AFF"/>
                </a:solidFill>
                <a:latin typeface="Calibri"/>
              </a:rPr>
              <a:t>62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2000" y="4140000"/>
            <a:ext cx="2592000" cy="503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Calibri"/>
              </a:rPr>
              <a:t>Layout XML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68000" y="3060000"/>
            <a:ext cx="2592000" cy="169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68000" y="3240000"/>
            <a:ext cx="2592000" cy="86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4400" b="1">
                <a:solidFill>
                  <a:srgbClr val="34C759"/>
                </a:solidFill>
                <a:latin typeface="Calibri"/>
              </a:rPr>
              <a:t>~20K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68000" y="4140000"/>
            <a:ext cx="2592000" cy="503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Calibri"/>
              </a:rPr>
              <a:t>LOC Java + XML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000" y="6534000"/>
            <a:ext cx="11471695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PetShop – Đồ án Phát triển Ứng dụng Di động • Nhóm 3 thành viên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599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98000"/>
            <a:ext cx="720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E09010"/>
                </a:solidFill>
                <a:latin typeface="Calibri"/>
              </a:rPr>
              <a:t>5 •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78000"/>
            <a:ext cx="11471695" cy="46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Khách hàng – Đăng ký &amp; Trang chủ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827999"/>
            <a:ext cx="900000" cy="43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11695" y="198000"/>
            <a:ext cx="7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17 /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080000"/>
            <a:ext cx="2520000" cy="39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2700000"/>
            <a:ext cx="252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555555"/>
                </a:solidFill>
                <a:latin typeface="Calibri"/>
              </a:rPr>
              <a:t>[ Screenshot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2988000"/>
            <a:ext cx="25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activity_splash.xml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5112000"/>
            <a:ext cx="25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Splash + Onboarding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67999" y="1080000"/>
            <a:ext cx="2520000" cy="39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67999" y="2700000"/>
            <a:ext cx="252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555555"/>
                </a:solidFill>
                <a:latin typeface="Calibri"/>
              </a:rPr>
              <a:t>[ Screenshot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7999" y="2988000"/>
            <a:ext cx="25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activity_register.xml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67999" y="5112000"/>
            <a:ext cx="25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Đăng ký + OTP email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03999" y="1080000"/>
            <a:ext cx="2520000" cy="39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03999" y="2700000"/>
            <a:ext cx="252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555555"/>
                </a:solidFill>
                <a:latin typeface="Calibri"/>
              </a:rPr>
              <a:t>[ Screenshot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3999" y="2988000"/>
            <a:ext cx="25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activity_login.xml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3999" y="5112000"/>
            <a:ext cx="25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Đăng nhập Google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39999" y="1080000"/>
            <a:ext cx="2520000" cy="39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39999" y="2700000"/>
            <a:ext cx="252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555555"/>
                </a:solidFill>
                <a:latin typeface="Calibri"/>
              </a:rPr>
              <a:t>[ Screenshot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9999" y="2988000"/>
            <a:ext cx="25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fragment_home.xml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9999" y="5112000"/>
            <a:ext cx="25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Trang chủ + 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000" y="6318000"/>
            <a:ext cx="10800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Chèn ảnh thật vào 4 khung trên (chụp từ emulator)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000" y="6534000"/>
            <a:ext cx="11471695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PetShop – Đồ án Phát triển Ứng dụng Di động • Nhóm 3 thành viên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599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98000"/>
            <a:ext cx="720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E09010"/>
                </a:solidFill>
                <a:latin typeface="Calibri"/>
              </a:rPr>
              <a:t>5 •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78000"/>
            <a:ext cx="11471695" cy="46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Khách hàng – Giỏ hàng &amp; Thanh toán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827999"/>
            <a:ext cx="900000" cy="43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11695" y="198000"/>
            <a:ext cx="7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18 /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080000"/>
            <a:ext cx="2520000" cy="39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2700000"/>
            <a:ext cx="252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555555"/>
                </a:solidFill>
                <a:latin typeface="Calibri"/>
              </a:rPr>
              <a:t>[ Screenshot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2988000"/>
            <a:ext cx="25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activity_pet_detail.xml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5112000"/>
            <a:ext cx="25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Pet/Food Detail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67999" y="1080000"/>
            <a:ext cx="2520000" cy="39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67999" y="2700000"/>
            <a:ext cx="252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555555"/>
                </a:solidFill>
                <a:latin typeface="Calibri"/>
              </a:rPr>
              <a:t>[ Screenshot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7999" y="2988000"/>
            <a:ext cx="25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activity_cart.xml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67999" y="5112000"/>
            <a:ext cx="25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Giỏ hàng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03999" y="1080000"/>
            <a:ext cx="2520000" cy="39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03999" y="2700000"/>
            <a:ext cx="252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555555"/>
                </a:solidFill>
                <a:latin typeface="Calibri"/>
              </a:rPr>
              <a:t>[ Screenshot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3999" y="2988000"/>
            <a:ext cx="25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activity_checkout.xml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3999" y="5112000"/>
            <a:ext cx="25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Checkout + Voucher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39999" y="1080000"/>
            <a:ext cx="2520000" cy="39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39999" y="2700000"/>
            <a:ext cx="252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555555"/>
                </a:solidFill>
                <a:latin typeface="Calibri"/>
              </a:rPr>
              <a:t>[ Screenshot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9999" y="2988000"/>
            <a:ext cx="25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activity_vnpay_webview.xml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9999" y="5112000"/>
            <a:ext cx="25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VNPay Sandbox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000" y="6534000"/>
            <a:ext cx="11471695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PetShop – Đồ án Phát triển Ứng dụng Di động • Nhóm 3 thành viên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599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98000"/>
            <a:ext cx="720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E09010"/>
                </a:solidFill>
                <a:latin typeface="Calibri"/>
              </a:rPr>
              <a:t>5 •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78000"/>
            <a:ext cx="11471695" cy="46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Khách hàng – Đơn hàng • Hoàn trả • Thông báo • Chat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827999"/>
            <a:ext cx="900000" cy="43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11695" y="198000"/>
            <a:ext cx="7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19 /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080000"/>
            <a:ext cx="2520000" cy="39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2700000"/>
            <a:ext cx="252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555555"/>
                </a:solidFill>
                <a:latin typeface="Calibri"/>
              </a:rPr>
              <a:t>[ Screenshot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2988000"/>
            <a:ext cx="25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activity_order_history.xml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5112000"/>
            <a:ext cx="25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Lịch sử đơn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67999" y="1080000"/>
            <a:ext cx="2520000" cy="39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67999" y="2700000"/>
            <a:ext cx="252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555555"/>
                </a:solidFill>
                <a:latin typeface="Calibri"/>
              </a:rPr>
              <a:t>[ Screenshot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7999" y="2988000"/>
            <a:ext cx="25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activity_return_request.xml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67999" y="5112000"/>
            <a:ext cx="25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Yêu cầu hoàn trả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03999" y="1080000"/>
            <a:ext cx="2520000" cy="39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03999" y="2700000"/>
            <a:ext cx="252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555555"/>
                </a:solidFill>
                <a:latin typeface="Calibri"/>
              </a:rPr>
              <a:t>[ Screenshot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3999" y="2988000"/>
            <a:ext cx="25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activity_notification.xml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3999" y="5112000"/>
            <a:ext cx="25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Thông báo + badge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39999" y="1080000"/>
            <a:ext cx="2520000" cy="39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39999" y="2700000"/>
            <a:ext cx="252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555555"/>
                </a:solidFill>
                <a:latin typeface="Calibri"/>
              </a:rPr>
              <a:t>[ Screenshot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9999" y="2988000"/>
            <a:ext cx="25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activity_chat.xml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9999" y="5112000"/>
            <a:ext cx="25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Chat AI hỗ trợ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000" y="6534000"/>
            <a:ext cx="11471695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PetShop – Đồ án Phát triển Ứng dụng Di động • Nhóm 3 thành viên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599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98000"/>
            <a:ext cx="720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E09010"/>
                </a:solidFill>
                <a:latin typeface="Calibri"/>
              </a:rPr>
              <a:t>5 •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78000"/>
            <a:ext cx="11471695" cy="46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Admin – Dashboard &amp; Quản lý đơn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827999"/>
            <a:ext cx="900000" cy="43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11695" y="198000"/>
            <a:ext cx="7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20 /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080000"/>
            <a:ext cx="2520000" cy="39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2700000"/>
            <a:ext cx="252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555555"/>
                </a:solidFill>
                <a:latin typeface="Calibri"/>
              </a:rPr>
              <a:t>[ Screenshot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2988000"/>
            <a:ext cx="25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activity_admin.xml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5112000"/>
            <a:ext cx="25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Admin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67999" y="1080000"/>
            <a:ext cx="2520000" cy="39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67999" y="2700000"/>
            <a:ext cx="252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555555"/>
                </a:solidFill>
                <a:latin typeface="Calibri"/>
              </a:rPr>
              <a:t>[ Screenshot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7999" y="2988000"/>
            <a:ext cx="25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activity_admin_order_list.xml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67999" y="5112000"/>
            <a:ext cx="25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Quản lý đơn hàng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03999" y="1080000"/>
            <a:ext cx="2520000" cy="39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03999" y="2700000"/>
            <a:ext cx="252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555555"/>
                </a:solidFill>
                <a:latin typeface="Calibri"/>
              </a:rPr>
              <a:t>[ Screenshot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3999" y="2988000"/>
            <a:ext cx="25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activity_order_detail.xml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3999" y="5112000"/>
            <a:ext cx="25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Chi tiết đơn (Admin)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39999" y="1080000"/>
            <a:ext cx="2520000" cy="39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39999" y="2700000"/>
            <a:ext cx="252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555555"/>
                </a:solidFill>
                <a:latin typeface="Calibri"/>
              </a:rPr>
              <a:t>[ Screenshot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9999" y="2988000"/>
            <a:ext cx="25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activity_admin_return_list.xml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9999" y="5112000"/>
            <a:ext cx="25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Duyệt hoàn trả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000" y="6534000"/>
            <a:ext cx="11471695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PetShop – Đồ án Phát triển Ứng dụng Di động • Nhóm 3 thành viên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599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98000"/>
            <a:ext cx="720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E09010"/>
                </a:solidFill>
                <a:latin typeface="Calibri"/>
              </a:rPr>
              <a:t>5 •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78000"/>
            <a:ext cx="11471695" cy="46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Admin – Quản lý sản phẩm &amp; marketing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827999"/>
            <a:ext cx="900000" cy="43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11695" y="198000"/>
            <a:ext cx="7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21 /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080000"/>
            <a:ext cx="2520000" cy="39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2700000"/>
            <a:ext cx="252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555555"/>
                </a:solidFill>
                <a:latin typeface="Calibri"/>
              </a:rPr>
              <a:t>[ Screenshot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2988000"/>
            <a:ext cx="25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activity_manage_pets.xml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5112000"/>
            <a:ext cx="25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Quản lý Pet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67999" y="1080000"/>
            <a:ext cx="2520000" cy="39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67999" y="2700000"/>
            <a:ext cx="252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555555"/>
                </a:solidFill>
                <a:latin typeface="Calibri"/>
              </a:rPr>
              <a:t>[ Screenshot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7999" y="2988000"/>
            <a:ext cx="25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activity_manage_foods.xml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67999" y="5112000"/>
            <a:ext cx="25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Quản lý Food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03999" y="1080000"/>
            <a:ext cx="2520000" cy="39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03999" y="2700000"/>
            <a:ext cx="252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555555"/>
                </a:solidFill>
                <a:latin typeface="Calibri"/>
              </a:rPr>
              <a:t>[ Screenshot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3999" y="2988000"/>
            <a:ext cx="25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activity_manage_vouchers.xml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3999" y="5112000"/>
            <a:ext cx="25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Quản lý Voucher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39999" y="1080000"/>
            <a:ext cx="2520000" cy="39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39999" y="2700000"/>
            <a:ext cx="252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555555"/>
                </a:solidFill>
                <a:latin typeface="Calibri"/>
              </a:rPr>
              <a:t>[ Screenshot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9999" y="2988000"/>
            <a:ext cx="25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activity_manage_promotions.xml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9999" y="5112000"/>
            <a:ext cx="25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Quản lý Khuyến mãi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000" y="6534000"/>
            <a:ext cx="11471695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PetShop – Đồ án Phát triển Ứng dụng Di động • Nhóm 3 thành viên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599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98000"/>
            <a:ext cx="720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E09010"/>
                </a:solidFill>
                <a:latin typeface="Calibri"/>
              </a:rPr>
              <a:t>6 • KIỂM THỬ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78000"/>
            <a:ext cx="11471695" cy="46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Kết quả Test Case (14 ca tiêu biểu)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827999"/>
            <a:ext cx="900000" cy="43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11695" y="198000"/>
            <a:ext cx="7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22 /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1080000"/>
            <a:ext cx="720000" cy="396000"/>
          </a:xfrm>
          <a:prstGeom prst="roundRect">
            <a:avLst>
              <a:gd name="adj" fmla="val 4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TC-01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7999" y="1080000"/>
            <a:ext cx="4356000" cy="39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Đăng ký email trùng → báo lỗi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" y="1584000"/>
            <a:ext cx="720000" cy="396000"/>
          </a:xfrm>
          <a:prstGeom prst="roundRect">
            <a:avLst>
              <a:gd name="adj" fmla="val 4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TC-02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7999" y="1584000"/>
            <a:ext cx="4356000" cy="39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OTP sai → cảnh báo, không tạo TK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0000" y="2088000"/>
            <a:ext cx="720000" cy="396000"/>
          </a:xfrm>
          <a:prstGeom prst="roundRect">
            <a:avLst>
              <a:gd name="adj" fmla="val 4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TC-03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7999" y="2088000"/>
            <a:ext cx="4356000" cy="39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Đặt COD → status PENDING, trừ stock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0000" y="2591999"/>
            <a:ext cx="720000" cy="396000"/>
          </a:xfrm>
          <a:prstGeom prst="roundRect">
            <a:avLst>
              <a:gd name="adj" fmla="val 4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TC-04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7999" y="2591999"/>
            <a:ext cx="4356000" cy="39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VNPay PAID → status PENDING + paid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000" y="3096000"/>
            <a:ext cx="720000" cy="396000"/>
          </a:xfrm>
          <a:prstGeom prst="roundRect">
            <a:avLst>
              <a:gd name="adj" fmla="val 4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TC-05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7999" y="3096000"/>
            <a:ext cx="4356000" cy="39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VNPay huỷ → đơn vẫn WAIT_PAY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0000" y="3600000"/>
            <a:ext cx="720000" cy="396000"/>
          </a:xfrm>
          <a:prstGeom prst="roundRect">
            <a:avLst>
              <a:gd name="adj" fmla="val 4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TC-06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7999" y="3600000"/>
            <a:ext cx="4356000" cy="39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Voucher FREESHIP → ship = 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0000" y="4103999"/>
            <a:ext cx="720000" cy="396000"/>
          </a:xfrm>
          <a:prstGeom prst="roundRect">
            <a:avLst>
              <a:gd name="adj" fmla="val 4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TC-07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7999" y="4103999"/>
            <a:ext cx="4356000" cy="39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Voucher quá hạn → từ chối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0000" y="1080000"/>
            <a:ext cx="720000" cy="396000"/>
          </a:xfrm>
          <a:prstGeom prst="roundRect">
            <a:avLst>
              <a:gd name="adj" fmla="val 4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TC-08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7999" y="1080000"/>
            <a:ext cx="4356000" cy="39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Huỷ đơn → hoàn stock + voucher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0000" y="1584000"/>
            <a:ext cx="720000" cy="396000"/>
          </a:xfrm>
          <a:prstGeom prst="roundRect">
            <a:avLst>
              <a:gd name="adj" fmla="val 4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TC-09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7999" y="1584000"/>
            <a:ext cx="4356000" cy="39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Hoàn trả COD → bắt buộc STK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0000" y="2088000"/>
            <a:ext cx="720000" cy="396000"/>
          </a:xfrm>
          <a:prstGeom prst="roundRect">
            <a:avLst>
              <a:gd name="adj" fmla="val 4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TC-10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7999" y="2088000"/>
            <a:ext cx="4356000" cy="39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Admin REFUND → doanh thu giảm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0000" y="2591999"/>
            <a:ext cx="720000" cy="396000"/>
          </a:xfrm>
          <a:prstGeom prst="roundRect">
            <a:avLst>
              <a:gd name="adj" fmla="val 4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TC-11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7999" y="2591999"/>
            <a:ext cx="4356000" cy="39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Notification real-time (badge)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0000" y="3096000"/>
            <a:ext cx="720000" cy="396000"/>
          </a:xfrm>
          <a:prstGeom prst="roundRect">
            <a:avLst>
              <a:gd name="adj" fmla="val 4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TC-12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7999" y="3096000"/>
            <a:ext cx="4356000" cy="39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Chat AI gửi ảnh &lt; 10s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0000" y="3600000"/>
            <a:ext cx="720000" cy="396000"/>
          </a:xfrm>
          <a:prstGeom prst="roundRect">
            <a:avLst>
              <a:gd name="adj" fmla="val 4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TC-13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7999" y="3600000"/>
            <a:ext cx="4356000" cy="39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Login admin → AdminActivity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0000" y="4103999"/>
            <a:ext cx="720000" cy="396000"/>
          </a:xfrm>
          <a:prstGeom prst="roundRect">
            <a:avLst>
              <a:gd name="adj" fmla="val 4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TC-14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7999" y="4103999"/>
            <a:ext cx="4356000" cy="39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Logout → xoá session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20000" y="4680000"/>
            <a:ext cx="2880000" cy="396000"/>
          </a:xfrm>
          <a:prstGeom prst="roundRect">
            <a:avLst>
              <a:gd name="adj" fmla="val 5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18000" bIns="18000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PASS 14/14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0000" y="6534000"/>
            <a:ext cx="11471695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PetShop – Đồ án Phát triển Ứng dụng Di động • Nhóm 3 thành viên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599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98000"/>
            <a:ext cx="720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E09010"/>
                </a:solidFill>
                <a:latin typeface="Calibri"/>
              </a:rPr>
              <a:t>6 • ĐÁNH GIÁ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78000"/>
            <a:ext cx="11471695" cy="46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Ưu điểm &amp; Hạn chế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827999"/>
            <a:ext cx="900000" cy="43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11695" y="198000"/>
            <a:ext cx="7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23 /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999" y="1080000"/>
            <a:ext cx="5400000" cy="39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1999" y="1080000"/>
            <a:ext cx="90000" cy="3960000"/>
          </a:xfrm>
          <a:prstGeom prst="roundRect">
            <a:avLst>
              <a:gd name="adj" fmla="val 5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999" y="1152000"/>
            <a:ext cx="518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00" b="1">
                <a:solidFill>
                  <a:srgbClr val="34C759"/>
                </a:solidFill>
                <a:latin typeface="Calibri"/>
              </a:rPr>
              <a:t>✓  Ưu điểm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999" y="1422000"/>
            <a:ext cx="5184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Phủ trọn nghiệp vụ E-commerce thú cưng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Real-time mạnh nhờ Firestore SnapshotListener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Tích hợp 3 dịch vụ: Google • VNPay • OpenAI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Kiến trúc MVVM rõ ràng, dễ mở rộng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UI Material Design, Tiếng Việt đầy đủ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Có cả vai trò Customer &amp; Admin trong 1 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0000" y="1080000"/>
            <a:ext cx="5400000" cy="39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0000" y="1080000"/>
            <a:ext cx="90000" cy="3960000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0000" y="1152000"/>
            <a:ext cx="518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00" b="1">
                <a:solidFill>
                  <a:srgbClr val="FF3B30"/>
                </a:solidFill>
                <a:latin typeface="Calibri"/>
              </a:rPr>
              <a:t>✗  Hạn chế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0000" y="1422000"/>
            <a:ext cx="5184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Chưa có CI/CD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Chưa đủ unit test tự động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Chưa dùng FCM (mới in-app)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ShippingHelper hardcode, chưa gọi GHN/GHTK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Refund VNPay vẫn thủ công (cần Cloud Function)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Chưa có analytics chi tiết theo ngày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" y="6534000"/>
            <a:ext cx="11471695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PetShop – Đồ án Phát triển Ứng dụng Di động • Nhóm 3 thành viên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599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98000"/>
            <a:ext cx="720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E09010"/>
                </a:solidFill>
                <a:latin typeface="Calibri"/>
              </a:rPr>
              <a:t>7 • PHÂN CÔNG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78000"/>
            <a:ext cx="11471695" cy="46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Khối lượng công việc – chia đều 3 thành viên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827999"/>
            <a:ext cx="900000" cy="43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11695" y="198000"/>
            <a:ext cx="7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24 /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1080000"/>
            <a:ext cx="3600000" cy="37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000" y="1080000"/>
            <a:ext cx="3600000" cy="72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00" y="1134000"/>
            <a:ext cx="3600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Nguyễn Văn Trường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1458000"/>
            <a:ext cx="360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Trưởng nhóm – Customer flow &amp;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000" y="1907999"/>
            <a:ext cx="3384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Splash, Home, Detail, Cart, Checkout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VNPay (URL builder + HMAC-SHA512)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Order History/Detail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Admin: Pet/Food/Category/Voucher/Promotion CRUD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Báo cáo: Chương 1, 3, 5, 6 (Customer)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40000" y="4428000"/>
            <a:ext cx="1440000" cy="3240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34 %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04000" y="1080000"/>
            <a:ext cx="3600000" cy="37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04000" y="1080000"/>
            <a:ext cx="3600000" cy="7200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04000" y="1134000"/>
            <a:ext cx="3600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Đào Trúc Mai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04000" y="1458000"/>
            <a:ext cx="360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Notification • Hoàn trả • Media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8000" y="1907999"/>
            <a:ext cx="3384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UI Notification, Promotion screen, Banner slider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Module Hoàn trả (Customer + Admin Approve)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Upload media: ảnh / video Pet &amp; Food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Hỗ trợ Admin Dashboard UI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Báo cáo: Chương 2, 6 (Admin), 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84000" y="4428000"/>
            <a:ext cx="1440000" cy="32400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33 %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48000" y="1080000"/>
            <a:ext cx="3600000" cy="37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48000" y="1080000"/>
            <a:ext cx="3600000" cy="720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8000" y="1134000"/>
            <a:ext cx="3600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Nguyễn Hữu Đức Thọ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8000" y="1458000"/>
            <a:ext cx="360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Auth • Chat AI • Profile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92000" y="1907999"/>
            <a:ext cx="3384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Login / Register / Google / OTP (JavaMail)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Profile + Edit Profile + Manage Address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Chat AI (OkHttp ↔ OpenAI) + Lịch sử phiên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Logic dashboard thống kê + bug-fix role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Báo cáo: Chương 4, 8 + Slide PowerPoint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28000" y="4428000"/>
            <a:ext cx="1440000" cy="324000"/>
          </a:xfrm>
          <a:prstGeom prst="roundRect">
            <a:avLst>
              <a:gd name="adj" fmla="val 5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33 %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000" y="6318000"/>
            <a:ext cx="11471695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555555"/>
                </a:solidFill>
                <a:latin typeface="Calibri"/>
              </a:rPr>
              <a:t>Tổng: 100 %  •  Mức độ chia đều dựa trên khối lượng module thực tế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000" y="6534000"/>
            <a:ext cx="11471695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PetShop – Đồ án Phát triển Ứng dụng Di động • Nhóm 3 thành viên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599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98000"/>
            <a:ext cx="720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E09010"/>
                </a:solidFill>
                <a:latin typeface="Calibri"/>
              </a:rPr>
              <a:t>8 • TƯƠNG LAI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78000"/>
            <a:ext cx="11471695" cy="46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Hướng phát triển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827999"/>
            <a:ext cx="900000" cy="43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11695" y="198000"/>
            <a:ext cx="7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25 /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999" y="1224000"/>
            <a:ext cx="2664000" cy="165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1999" y="1224000"/>
            <a:ext cx="90000" cy="1655999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999" y="1296000"/>
            <a:ext cx="2448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1">
                <a:solidFill>
                  <a:srgbClr val="F5A623"/>
                </a:solidFill>
                <a:latin typeface="Calibri"/>
              </a:rPr>
              <a:t>Push Notification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999" y="1566000"/>
            <a:ext cx="2448000" cy="129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Firebase Cloud Messaging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59999" y="1224000"/>
            <a:ext cx="2664000" cy="165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59999" y="1224000"/>
            <a:ext cx="90000" cy="1655999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39999" y="1296000"/>
            <a:ext cx="2448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libri"/>
              </a:rPr>
              <a:t>Cloud Functions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39999" y="1566000"/>
            <a:ext cx="2448000" cy="129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Refund VNPay tự động + Email auto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67999" y="1224000"/>
            <a:ext cx="2664000" cy="165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67999" y="1224000"/>
            <a:ext cx="90000" cy="1655999"/>
          </a:xfrm>
          <a:prstGeom prst="roundRect">
            <a:avLst>
              <a:gd name="adj" fmla="val 5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47999" y="1296000"/>
            <a:ext cx="2448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1">
                <a:solidFill>
                  <a:srgbClr val="34C759"/>
                </a:solidFill>
                <a:latin typeface="Calibri"/>
              </a:rPr>
              <a:t>Shipping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7999" y="1566000"/>
            <a:ext cx="2448000" cy="129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Tích hợp GHN / GHTK / J&amp;T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75999" y="1224000"/>
            <a:ext cx="2664000" cy="165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75999" y="1224000"/>
            <a:ext cx="90000" cy="1655999"/>
          </a:xfrm>
          <a:prstGeom prst="roundRect">
            <a:avLst>
              <a:gd name="adj" fmla="val 50000"/>
            </a:avLst>
          </a:prstGeom>
          <a:solidFill>
            <a:srgbClr val="66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55999" y="1296000"/>
            <a:ext cx="2448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1">
                <a:solidFill>
                  <a:srgbClr val="6633CC"/>
                </a:solidFill>
                <a:latin typeface="Calibri"/>
              </a:rPr>
              <a:t>Google Maps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5999" y="1566000"/>
            <a:ext cx="2448000" cy="129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Pick địa chỉ trên bản đồ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1999" y="3023999"/>
            <a:ext cx="2664000" cy="165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51999" y="3023999"/>
            <a:ext cx="90000" cy="1655999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999" y="3095999"/>
            <a:ext cx="2448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1">
                <a:solidFill>
                  <a:srgbClr val="FF3B30"/>
                </a:solidFill>
                <a:latin typeface="Calibri"/>
              </a:rPr>
              <a:t>Review media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999" y="3365999"/>
            <a:ext cx="2448000" cy="129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Đánh giá có ảnh/video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59999" y="3023999"/>
            <a:ext cx="2664000" cy="165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059999" y="3023999"/>
            <a:ext cx="90000" cy="1655999"/>
          </a:xfrm>
          <a:prstGeom prst="roundRect">
            <a:avLst>
              <a:gd name="adj" fmla="val 50000"/>
            </a:avLst>
          </a:prstGeom>
          <a:solidFill>
            <a:srgbClr val="E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39999" y="3095999"/>
            <a:ext cx="2448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1">
                <a:solidFill>
                  <a:srgbClr val="E09010"/>
                </a:solidFill>
                <a:latin typeface="Calibri"/>
              </a:rPr>
              <a:t>Multi-platform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39999" y="3365999"/>
            <a:ext cx="2448000" cy="129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Bản iOS (Flutter / KMP)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67999" y="3023999"/>
            <a:ext cx="2664000" cy="165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867999" y="3023999"/>
            <a:ext cx="90000" cy="1655999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47999" y="3095999"/>
            <a:ext cx="2448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libri"/>
              </a:rPr>
              <a:t>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47999" y="3365999"/>
            <a:ext cx="2448000" cy="129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Biểu đồ doanh thu chi tiết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75999" y="3023999"/>
            <a:ext cx="2664000" cy="165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675999" y="3023999"/>
            <a:ext cx="90000" cy="1655999"/>
          </a:xfrm>
          <a:prstGeom prst="roundRect">
            <a:avLst>
              <a:gd name="adj" fmla="val 5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55999" y="3095999"/>
            <a:ext cx="2448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1">
                <a:solidFill>
                  <a:srgbClr val="34C759"/>
                </a:solidFill>
                <a:latin typeface="Calibri"/>
              </a:rPr>
              <a:t>AI Voice 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55999" y="3365999"/>
            <a:ext cx="2448000" cy="129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Trợ lý mua hàng bằng giọng nói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0000" y="6534000"/>
            <a:ext cx="11471695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PetShop – Đồ án Phát triển Ứng dụng Di động • Nhóm 3 thành viên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599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98000"/>
            <a:ext cx="720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E09010"/>
                </a:solidFill>
                <a:latin typeface="Calibri"/>
              </a:rPr>
              <a:t>8 • KẾT LUẬN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78000"/>
            <a:ext cx="11471695" cy="46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Kết quả đạt được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827999"/>
            <a:ext cx="900000" cy="43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11695" y="198000"/>
            <a:ext cx="7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26 /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999" y="1080000"/>
            <a:ext cx="5400000" cy="19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1999" y="1080000"/>
            <a:ext cx="90000" cy="1980000"/>
          </a:xfrm>
          <a:prstGeom prst="roundRect">
            <a:avLst>
              <a:gd name="adj" fmla="val 5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999" y="1152000"/>
            <a:ext cx="518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00" b="1">
                <a:solidFill>
                  <a:srgbClr val="34C759"/>
                </a:solidFill>
                <a:latin typeface="Calibri"/>
              </a:rPr>
              <a:t>Hoàn thành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999" y="1422000"/>
            <a:ext cx="5184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100 % chức năng bắt buộc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80 % chức năng nâng cao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Chạy ổn định Android 8.0+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Test pass 14/14 ca tiêu biểu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0000" y="1080000"/>
            <a:ext cx="5400000" cy="19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0000" y="1080000"/>
            <a:ext cx="90000" cy="198000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0000" y="1152000"/>
            <a:ext cx="518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00" b="1">
                <a:solidFill>
                  <a:srgbClr val="007AFF"/>
                </a:solidFill>
                <a:latin typeface="Calibri"/>
              </a:rPr>
              <a:t>Học được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0000" y="1422000"/>
            <a:ext cx="5184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Áp dụng MVVM thực chiến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Real-time Firestore SnapshotListener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Bảo mật API key qua local.properties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Tích hợp service bên thứ 3 (VNPay, OpenAI)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1999" y="3168000"/>
            <a:ext cx="11088000" cy="18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D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51999" y="3168000"/>
            <a:ext cx="90000" cy="18000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1999" y="3240000"/>
            <a:ext cx="10872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00" b="1">
                <a:solidFill>
                  <a:srgbClr val="F5A623"/>
                </a:solidFill>
                <a:latin typeface="Calibri"/>
              </a:rPr>
              <a:t>Sản phẩm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999" y="3510000"/>
            <a:ext cx="10872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1 ứng dụng Android hoàn chỉnh • 30+ Activity • 14 ViewModel • 13 Repository • 17 Entity • ~20.000 LOC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" y="6534000"/>
            <a:ext cx="11471695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PetShop – Đồ án Phát triển Ứng dụng Di động • Nhóm 3 thành viên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0" y="3978000"/>
            <a:ext cx="3600000" cy="2880000"/>
          </a:xfrm>
          <a:prstGeom prst="rtTriangle">
            <a:avLst/>
          </a:prstGeom>
          <a:solidFill>
            <a:srgbClr val="E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800000"/>
            <a:ext cx="12191695" cy="72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CẢM ƠN THẦY/CÔ ĐÃ LẮNG NGHE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880000"/>
            <a:ext cx="12191695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🐾  Q &amp; A  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140000"/>
            <a:ext cx="12191695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Nhóm PetShop  •  KunT  •  Đào Trúc Mai  •  Nguyễn Hữu Đức Thọ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599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98000"/>
            <a:ext cx="720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E09010"/>
                </a:solidFill>
                <a:latin typeface="Calibri"/>
              </a:rPr>
              <a:t>PHỤ LỤC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78000"/>
            <a:ext cx="11471695" cy="46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Hướng dẫn nhóm chèn ảnh thật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827999"/>
            <a:ext cx="900000" cy="43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11695" y="198000"/>
            <a:ext cx="72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27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080000"/>
            <a:ext cx="1008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1. Mở app trên emulator (API ≥ 30) hoặc thiết bị thật.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2. Vào từng màn hình theo thứ tự gợi ý ở Slide 17 → 21.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3. Chụp bằng phím Power+Volume Down (real device) hoặc nút Camera trong Android Studio.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4. Lưu ảnh vào docs/screenshots/ và đặt tên đúng quy ước (vd: 06_login.png).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5. Mở file BAO_CAO_SLIDES.pptx → click khung [Screenshot] → Insert → Picture → thay thế.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6. Đối với báo cáo Word: chèn ảnh tại các vị trí [CHỤP ẢNH …] trong BAO_CAO.md.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7. Render lại các sơ đồ Mermaid (.mmd) trên https://mermaid.live nếu muốn chỉnh sửa.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6534000"/>
            <a:ext cx="11471695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PetShop – Đồ án Phát triển Ứng dụng Di động • Nhóm 3 thành viên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